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9144000" cy="512064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8" userDrawn="1">
          <p15:clr>
            <a:srgbClr val="A4A3A4"/>
          </p15:clr>
        </p15:guide>
        <p15:guide id="2" pos="2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08"/>
        <p:guide pos="284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7" Type="http://schemas.openxmlformats.org/officeDocument/2006/relationships/customXmlProps" Target="../customXml/itemProps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83" name="组合 82"/>
          <p:cNvGrpSpPr/>
          <p:nvPr/>
        </p:nvGrpSpPr>
        <p:grpSpPr>
          <a:xfrm>
            <a:off x="176530" y="222250"/>
            <a:ext cx="8967486" cy="4751705"/>
            <a:chOff x="518" y="547"/>
            <a:chExt cx="13115" cy="6717"/>
          </a:xfrm>
        </p:grpSpPr>
        <p:sp>
          <p:nvSpPr>
            <p:cNvPr id="2" name="Rectangle 1"/>
            <p:cNvSpPr/>
            <p:nvPr/>
          </p:nvSpPr>
          <p:spPr>
            <a:xfrm>
              <a:off x="518" y="547"/>
              <a:ext cx="12707" cy="1699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8DE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720" y="590"/>
              <a:ext cx="1944" cy="43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defRPr sz="820" b="1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400">
                  <a:latin typeface="Songti SC" panose="02010800040101010101" charset="-122"/>
                </a:rPr>
                <a:t>公交运行环境</a:t>
              </a:r>
              <a:endParaRPr sz="1400">
                <a:latin typeface="Songti SC" panose="02010800040101010101" charset="-122"/>
              </a:endParaRP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1699" y="1584"/>
              <a:ext cx="10829" cy="0"/>
            </a:xfrm>
            <a:prstGeom prst="line">
              <a:avLst/>
            </a:prstGeom>
            <a:ln w="19050">
              <a:solidFill>
                <a:srgbClr val="A7B0B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1620" y="1505"/>
              <a:ext cx="158" cy="158"/>
            </a:xfrm>
            <a:prstGeom prst="ellipse">
              <a:avLst/>
            </a:prstGeom>
            <a:solidFill>
              <a:srgbClr val="FFFFFF"/>
            </a:solidFill>
            <a:ln w="10795">
              <a:solidFill>
                <a:srgbClr val="8D98A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262" y="1505"/>
              <a:ext cx="158" cy="158"/>
            </a:xfrm>
            <a:prstGeom prst="ellipse">
              <a:avLst/>
            </a:prstGeom>
            <a:solidFill>
              <a:srgbClr val="FFFFFF"/>
            </a:solidFill>
            <a:ln w="10795">
              <a:solidFill>
                <a:srgbClr val="8D98A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4903" y="1505"/>
              <a:ext cx="158" cy="158"/>
            </a:xfrm>
            <a:prstGeom prst="ellipse">
              <a:avLst/>
            </a:prstGeom>
            <a:solidFill>
              <a:srgbClr val="FFFFFF"/>
            </a:solidFill>
            <a:ln w="10795">
              <a:solidFill>
                <a:srgbClr val="8D98A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545" y="1505"/>
              <a:ext cx="158" cy="158"/>
            </a:xfrm>
            <a:prstGeom prst="ellipse">
              <a:avLst/>
            </a:prstGeom>
            <a:solidFill>
              <a:srgbClr val="FFFFFF"/>
            </a:solidFill>
            <a:ln w="10795">
              <a:solidFill>
                <a:srgbClr val="8D98A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8186" y="1505"/>
              <a:ext cx="158" cy="158"/>
            </a:xfrm>
            <a:prstGeom prst="ellipse">
              <a:avLst/>
            </a:prstGeom>
            <a:solidFill>
              <a:srgbClr val="FFFFFF"/>
            </a:solidFill>
            <a:ln w="10795">
              <a:solidFill>
                <a:srgbClr val="8D98A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9828" y="1505"/>
              <a:ext cx="158" cy="158"/>
            </a:xfrm>
            <a:prstGeom prst="ellipse">
              <a:avLst/>
            </a:prstGeom>
            <a:solidFill>
              <a:srgbClr val="FFFFFF"/>
            </a:solidFill>
            <a:ln w="10795">
              <a:solidFill>
                <a:srgbClr val="8D98A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1470" y="1505"/>
              <a:ext cx="158" cy="158"/>
            </a:xfrm>
            <a:prstGeom prst="ellipse">
              <a:avLst/>
            </a:prstGeom>
            <a:solidFill>
              <a:srgbClr val="FFFFFF"/>
            </a:solidFill>
            <a:ln w="10795">
              <a:solidFill>
                <a:srgbClr val="8D98A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2449" y="1505"/>
              <a:ext cx="158" cy="158"/>
            </a:xfrm>
            <a:prstGeom prst="ellipse">
              <a:avLst/>
            </a:prstGeom>
            <a:solidFill>
              <a:srgbClr val="FFFFFF"/>
            </a:solidFill>
            <a:ln w="10795">
              <a:solidFill>
                <a:srgbClr val="8D98A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592" y="1210"/>
              <a:ext cx="634" cy="288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4878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678" y="1289"/>
              <a:ext cx="115" cy="79"/>
            </a:xfrm>
            <a:prstGeom prst="rect">
              <a:avLst/>
            </a:prstGeom>
            <a:solidFill>
              <a:srgbClr val="4878A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851" y="1289"/>
              <a:ext cx="115" cy="79"/>
            </a:xfrm>
            <a:prstGeom prst="rect">
              <a:avLst/>
            </a:prstGeom>
            <a:solidFill>
              <a:srgbClr val="4878A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024" y="1289"/>
              <a:ext cx="115" cy="79"/>
            </a:xfrm>
            <a:prstGeom prst="rect">
              <a:avLst/>
            </a:prstGeom>
            <a:solidFill>
              <a:srgbClr val="4878A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736" y="1440"/>
              <a:ext cx="86" cy="86"/>
            </a:xfrm>
            <a:prstGeom prst="ellipse">
              <a:avLst/>
            </a:prstGeom>
            <a:solidFill>
              <a:srgbClr val="24313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3067" y="1440"/>
              <a:ext cx="86" cy="86"/>
            </a:xfrm>
            <a:prstGeom prst="ellipse">
              <a:avLst/>
            </a:prstGeom>
            <a:solidFill>
              <a:srgbClr val="24313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019" y="1210"/>
              <a:ext cx="634" cy="288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4E8D8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106" y="1289"/>
              <a:ext cx="115" cy="79"/>
            </a:xfrm>
            <a:prstGeom prst="rect">
              <a:avLst/>
            </a:prstGeom>
            <a:solidFill>
              <a:srgbClr val="4E8D8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278" y="1289"/>
              <a:ext cx="115" cy="79"/>
            </a:xfrm>
            <a:prstGeom prst="rect">
              <a:avLst/>
            </a:prstGeom>
            <a:solidFill>
              <a:srgbClr val="4E8D8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451" y="1289"/>
              <a:ext cx="115" cy="79"/>
            </a:xfrm>
            <a:prstGeom prst="rect">
              <a:avLst/>
            </a:prstGeom>
            <a:solidFill>
              <a:srgbClr val="4E8D8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6163" y="1440"/>
              <a:ext cx="86" cy="86"/>
            </a:xfrm>
            <a:prstGeom prst="ellipse">
              <a:avLst/>
            </a:prstGeom>
            <a:solidFill>
              <a:srgbClr val="24313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494" y="1440"/>
              <a:ext cx="86" cy="86"/>
            </a:xfrm>
            <a:prstGeom prst="ellipse">
              <a:avLst/>
            </a:prstGeom>
            <a:solidFill>
              <a:srgbClr val="24313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9216" y="1210"/>
              <a:ext cx="634" cy="288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B9575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302" y="1289"/>
              <a:ext cx="115" cy="79"/>
            </a:xfrm>
            <a:prstGeom prst="rect">
              <a:avLst/>
            </a:prstGeom>
            <a:solidFill>
              <a:srgbClr val="B957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475" y="1289"/>
              <a:ext cx="115" cy="79"/>
            </a:xfrm>
            <a:prstGeom prst="rect">
              <a:avLst/>
            </a:prstGeom>
            <a:solidFill>
              <a:srgbClr val="B957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648" y="1289"/>
              <a:ext cx="115" cy="79"/>
            </a:xfrm>
            <a:prstGeom prst="rect">
              <a:avLst/>
            </a:prstGeom>
            <a:solidFill>
              <a:srgbClr val="B957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9360" y="1440"/>
              <a:ext cx="86" cy="86"/>
            </a:xfrm>
            <a:prstGeom prst="ellipse">
              <a:avLst/>
            </a:prstGeom>
            <a:solidFill>
              <a:srgbClr val="24313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9691" y="1440"/>
              <a:ext cx="86" cy="86"/>
            </a:xfrm>
            <a:prstGeom prst="ellipse">
              <a:avLst/>
            </a:prstGeom>
            <a:solidFill>
              <a:srgbClr val="24313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3240" y="1094"/>
              <a:ext cx="2664" cy="0"/>
            </a:xfrm>
            <a:prstGeom prst="line">
              <a:avLst/>
            </a:prstGeom>
            <a:ln w="12700">
              <a:solidFill>
                <a:srgbClr val="4878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H="1">
              <a:off x="6768" y="1094"/>
              <a:ext cx="2304" cy="0"/>
            </a:xfrm>
            <a:prstGeom prst="line">
              <a:avLst/>
            </a:prstGeom>
            <a:ln w="12700">
              <a:solidFill>
                <a:srgbClr val="B9575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4030" y="738"/>
              <a:ext cx="1516" cy="3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680" b="0">
                  <a:solidFill>
                    <a:srgbClr val="4878A8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前向时距 h⁻</a:t>
              </a:r>
              <a:endParaRPr sz="1200">
                <a:latin typeface="Songti SC" panose="02010800040101010101" charset="-122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313" y="738"/>
              <a:ext cx="1516" cy="3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680" b="0">
                  <a:solidFill>
                    <a:srgbClr val="B9575D"/>
                  </a:solidFill>
                  <a:latin typeface="Songti SC" panose="02010800040101010101" charset="-122"/>
                </a:defRPr>
              </a:pPr>
              <a:r>
                <a:rPr sz="1200">
                  <a:latin typeface="华文宋体" panose="02010600040101010101" charset="-122"/>
                  <a:ea typeface="华文宋体" panose="02010600040101010101" charset="-122"/>
                  <a:cs typeface="华文宋体" panose="02010600040101010101" charset="-122"/>
                </a:rPr>
                <a:t>后向时距 h⁺</a:t>
              </a:r>
              <a:endParaRPr sz="12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719" y="1620"/>
              <a:ext cx="724" cy="4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640" b="0">
                  <a:solidFill>
                    <a:srgbClr val="636F7C"/>
                  </a:solidFill>
                  <a:latin typeface="Songti SC" panose="02010800040101010101" charset="-122"/>
                </a:defRPr>
              </a:pPr>
              <a:r>
                <a:rPr sz="1600">
                  <a:latin typeface="Songti SC" panose="02010800040101010101" charset="-122"/>
                </a:rPr>
                <a:t>s₃</a:t>
              </a:r>
              <a:endParaRPr sz="1600">
                <a:latin typeface="Songti SC" panose="02010800040101010101" charset="-122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016" y="1620"/>
              <a:ext cx="724" cy="4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640" b="0">
                  <a:solidFill>
                    <a:srgbClr val="636F7C"/>
                  </a:solidFill>
                  <a:latin typeface="Songti SC" panose="02010800040101010101" charset="-122"/>
                </a:defRPr>
              </a:pPr>
              <a:r>
                <a:rPr sz="1600">
                  <a:latin typeface="Songti SC" panose="02010800040101010101" charset="-122"/>
                </a:rPr>
                <a:t>s₅</a:t>
              </a:r>
              <a:endParaRPr sz="1600">
                <a:latin typeface="Songti SC" panose="02010800040101010101" charset="-122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314" y="1620"/>
              <a:ext cx="724" cy="4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640" b="0">
                  <a:solidFill>
                    <a:srgbClr val="636F7C"/>
                  </a:solidFill>
                  <a:latin typeface="Songti SC" panose="02010800040101010101" charset="-122"/>
                </a:defRPr>
              </a:pPr>
              <a:r>
                <a:rPr sz="1600">
                  <a:latin typeface="Songti SC" panose="02010800040101010101" charset="-122"/>
                </a:rPr>
                <a:t>s₇</a:t>
              </a:r>
              <a:endParaRPr sz="1600">
                <a:latin typeface="Songti SC" panose="02010800040101010101" charset="-122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864" y="2912"/>
              <a:ext cx="1843" cy="792"/>
            </a:xfrm>
            <a:prstGeom prst="roundRect">
              <a:avLst/>
            </a:prstGeom>
            <a:solidFill>
              <a:srgbClr val="F5F7FA"/>
            </a:solidFill>
            <a:ln w="10795">
              <a:solidFill>
                <a:srgbClr val="B8C1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6" tIns="27432" rIns="36576" bIns="27432" rtlCol="0" anchor="ctr"/>
            <a:lstStyle/>
            <a:p>
              <a:pPr algn="ctr">
                <a:defRPr sz="770" b="0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线路参数</a:t>
              </a:r>
              <a:endParaRPr sz="1200">
                <a:latin typeface="Songti SC" panose="02010800040101010101" charset="-122"/>
              </a:endParaRPr>
            </a:p>
            <a:p>
              <a:pPr algn="ctr">
                <a:defRPr sz="770" b="0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客流到达率</a:t>
              </a:r>
              <a:endParaRPr sz="1200">
                <a:latin typeface="Songti SC" panose="02010800040101010101" charset="-122"/>
              </a:endParaRP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864" y="4035"/>
              <a:ext cx="1843" cy="792"/>
            </a:xfrm>
            <a:prstGeom prst="roundRect">
              <a:avLst/>
            </a:prstGeom>
            <a:solidFill>
              <a:srgbClr val="F5F7FA"/>
            </a:solidFill>
            <a:ln w="10795">
              <a:solidFill>
                <a:srgbClr val="B8C1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6" tIns="27432" rIns="36576" bIns="27432" rtlCol="0" anchor="ctr"/>
            <a:lstStyle/>
            <a:p>
              <a:pPr algn="ctr">
                <a:defRPr sz="770" b="0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车辆位置</a:t>
              </a:r>
              <a:endParaRPr sz="1200">
                <a:latin typeface="Songti SC" panose="02010800040101010101" charset="-122"/>
              </a:endParaRPr>
            </a:p>
            <a:p>
              <a:pPr algn="ctr">
                <a:defRPr sz="770" b="0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载客状态</a:t>
              </a:r>
              <a:endParaRPr sz="1200">
                <a:latin typeface="Songti SC" panose="02010800040101010101" charset="-122"/>
              </a:endParaRPr>
            </a:p>
          </p:txBody>
        </p:sp>
        <p:cxnSp>
          <p:nvCxnSpPr>
            <p:cNvPr id="40" name="Connector 39"/>
            <p:cNvCxnSpPr/>
            <p:nvPr/>
          </p:nvCxnSpPr>
          <p:spPr>
            <a:xfrm>
              <a:off x="1786" y="3704"/>
              <a:ext cx="0" cy="331"/>
            </a:xfrm>
            <a:prstGeom prst="line">
              <a:avLst/>
            </a:prstGeom>
            <a:ln w="12700">
              <a:solidFill>
                <a:srgbClr val="9AA4A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3226" y="3181"/>
              <a:ext cx="2880" cy="43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defRPr sz="840" b="1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400">
                  <a:latin typeface="Songti SC" panose="02010800040101010101" charset="-122"/>
                </a:rPr>
                <a:t>强化学习驻站控制闭环</a:t>
              </a:r>
              <a:endParaRPr sz="1400">
                <a:latin typeface="Songti SC" panose="02010800040101010101" charset="-122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053" y="3024"/>
              <a:ext cx="10138" cy="3974"/>
            </a:xfrm>
            <a:prstGeom prst="rect">
              <a:avLst/>
            </a:prstGeom>
            <a:noFill/>
            <a:ln w="10795">
              <a:solidFill>
                <a:srgbClr val="D8DE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398" y="3960"/>
              <a:ext cx="1469" cy="922"/>
            </a:xfrm>
            <a:prstGeom prst="roundRect">
              <a:avLst/>
            </a:prstGeom>
            <a:solidFill>
              <a:srgbClr val="E5EEF8"/>
            </a:solidFill>
            <a:ln w="10795">
              <a:solidFill>
                <a:srgbClr val="4878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6" tIns="27432" rIns="36576" bIns="27432" rtlCol="0" anchor="ctr"/>
            <a:lstStyle/>
            <a:p>
              <a:pPr algn="ctr">
                <a:defRPr sz="740" b="1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 b="0">
                  <a:latin typeface="Songti SC" panose="02010800040101010101" charset="-122"/>
                </a:rPr>
                <a:t>车辆到站</a:t>
              </a:r>
              <a:endParaRPr sz="1200" b="0">
                <a:latin typeface="Songti SC" panose="02010800040101010101" charset="-122"/>
              </a:endParaRPr>
            </a:p>
            <a:p>
              <a:pPr algn="ctr">
                <a:defRPr sz="740" b="1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 b="0">
                  <a:latin typeface="Songti SC" panose="02010800040101010101" charset="-122"/>
                </a:rPr>
                <a:t>触发事件</a:t>
              </a:r>
              <a:endParaRPr sz="1200" b="0">
                <a:latin typeface="Songti SC" panose="02010800040101010101" charset="-122"/>
              </a:endParaRP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5386" y="3960"/>
              <a:ext cx="1469" cy="922"/>
            </a:xfrm>
            <a:prstGeom prst="roundRect">
              <a:avLst/>
            </a:prstGeom>
            <a:solidFill>
              <a:srgbClr val="F5EAD8"/>
            </a:solidFill>
            <a:ln w="10795">
              <a:solidFill>
                <a:srgbClr val="B87A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6" tIns="27432" rIns="36576" bIns="27432" rtlCol="0" anchor="ctr"/>
            <a:lstStyle/>
            <a:p>
              <a:pPr algn="ctr">
                <a:defRPr sz="740" b="0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上下客服务</a:t>
              </a:r>
              <a:endParaRPr sz="1200">
                <a:latin typeface="Songti SC" panose="02010800040101010101" charset="-122"/>
              </a:endParaRPr>
            </a:p>
            <a:p>
              <a:pPr algn="ctr">
                <a:defRPr sz="740" b="0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计算</a:t>
              </a:r>
              <a:r>
                <a:rPr lang="en-US" sz="1200">
                  <a:latin typeface="Songti SC" panose="02010800040101010101" charset="-122"/>
                </a:rPr>
                <a:t>(       )</a:t>
              </a:r>
              <a:endParaRPr lang="en-US" sz="1200">
                <a:latin typeface="Songti SC" panose="02010800040101010101" charset="-122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7373" y="3960"/>
              <a:ext cx="1469" cy="922"/>
            </a:xfrm>
            <a:prstGeom prst="roundRect">
              <a:avLst/>
            </a:prstGeom>
            <a:solidFill>
              <a:srgbClr val="E5EEF8"/>
            </a:solidFill>
            <a:ln w="10795">
              <a:solidFill>
                <a:srgbClr val="4878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6" tIns="27432" rIns="36576" bIns="27432" rtlCol="0" anchor="ctr"/>
            <a:lstStyle/>
            <a:p>
              <a:pPr algn="ctr">
                <a:defRPr sz="740" b="0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观测状态</a:t>
              </a:r>
              <a:endParaRPr sz="1200">
                <a:latin typeface="Songti SC" panose="02010800040101010101" charset="-122"/>
              </a:endParaRPr>
            </a:p>
            <a:p>
              <a:pPr algn="ctr">
                <a:defRPr sz="740" b="0">
                  <a:solidFill>
                    <a:srgbClr val="24313D"/>
                  </a:solidFill>
                  <a:latin typeface="Songti SC" panose="02010800040101010101" charset="-122"/>
                </a:defRPr>
              </a:pPr>
              <a:endParaRPr sz="1200">
                <a:latin typeface="Songti SC" panose="02010800040101010101" charset="-122"/>
              </a:endParaRP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360" y="3960"/>
              <a:ext cx="1469" cy="922"/>
            </a:xfrm>
            <a:prstGeom prst="roundRect">
              <a:avLst/>
            </a:prstGeom>
            <a:solidFill>
              <a:srgbClr val="F4DFE1"/>
            </a:solidFill>
            <a:ln w="10795">
              <a:solidFill>
                <a:srgbClr val="B9575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6" tIns="27432" rIns="36576" bIns="27432" rtlCol="0" anchor="ctr"/>
            <a:lstStyle/>
            <a:p>
              <a:pPr algn="ctr">
                <a:defRPr sz="740" b="1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 b="0">
                  <a:latin typeface="Songti SC" panose="02010800040101010101" charset="-122"/>
                </a:rPr>
                <a:t>策略网络</a:t>
              </a:r>
              <a:endParaRPr sz="1200" b="0">
                <a:latin typeface="Songti SC" panose="02010800040101010101" charset="-122"/>
              </a:endParaRPr>
            </a:p>
            <a:p>
              <a:pPr algn="ctr">
                <a:defRPr sz="740" b="1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 b="0">
                  <a:latin typeface="Songti SC" panose="02010800040101010101" charset="-122"/>
                </a:rPr>
                <a:t>输出</a:t>
              </a:r>
              <a:r>
                <a:rPr lang="en-US" sz="1200" b="0">
                  <a:latin typeface="Songti SC" panose="02010800040101010101" charset="-122"/>
                </a:rPr>
                <a:t>(     )</a:t>
              </a:r>
              <a:endParaRPr lang="en-US" sz="1200" b="0">
                <a:latin typeface="Songti SC" panose="02010800040101010101" charset="-122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11347" y="3960"/>
              <a:ext cx="1469" cy="922"/>
            </a:xfrm>
            <a:prstGeom prst="roundRect">
              <a:avLst/>
            </a:prstGeom>
            <a:solidFill>
              <a:srgbClr val="E4F1EF"/>
            </a:solidFill>
            <a:ln w="10795">
              <a:solidFill>
                <a:srgbClr val="4E8D8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6" tIns="27432" rIns="36576" bIns="27432" rtlCol="0" anchor="ctr"/>
            <a:lstStyle/>
            <a:p>
              <a:pPr algn="ctr">
                <a:defRPr sz="740" b="1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 b="0">
                  <a:latin typeface="Songti SC" panose="02010800040101010101" charset="-122"/>
                </a:rPr>
                <a:t>驻站离站</a:t>
              </a:r>
              <a:endParaRPr sz="1200" b="0">
                <a:latin typeface="Songti SC" panose="02010800040101010101" charset="-122"/>
              </a:endParaRPr>
            </a:p>
            <a:p>
              <a:pPr algn="ctr">
                <a:defRPr sz="740" b="1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 b="0">
                  <a:latin typeface="Songti SC" panose="02010800040101010101" charset="-122"/>
                </a:rPr>
                <a:t>运行</a:t>
              </a:r>
              <a:r>
                <a:rPr lang="en-US" sz="1200" b="0">
                  <a:latin typeface="Songti SC" panose="02010800040101010101" charset="-122"/>
                </a:rPr>
                <a:t>(       )</a:t>
              </a:r>
              <a:endParaRPr lang="en-US" sz="1200" b="0">
                <a:latin typeface="Songti SC" panose="02010800040101010101" charset="-122"/>
              </a:endParaRPr>
            </a:p>
          </p:txBody>
        </p:sp>
        <p:cxnSp>
          <p:nvCxnSpPr>
            <p:cNvPr id="48" name="Connector 47"/>
            <p:cNvCxnSpPr/>
            <p:nvPr/>
          </p:nvCxnSpPr>
          <p:spPr>
            <a:xfrm>
              <a:off x="2707" y="4421"/>
              <a:ext cx="691" cy="0"/>
            </a:xfrm>
            <a:prstGeom prst="line">
              <a:avLst/>
            </a:prstGeom>
            <a:ln w="12700">
              <a:solidFill>
                <a:srgbClr val="9AA4A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/>
            <p:cNvCxnSpPr/>
            <p:nvPr/>
          </p:nvCxnSpPr>
          <p:spPr>
            <a:xfrm>
              <a:off x="4867" y="4421"/>
              <a:ext cx="518" cy="0"/>
            </a:xfrm>
            <a:prstGeom prst="line">
              <a:avLst/>
            </a:prstGeom>
            <a:ln w="12700">
              <a:solidFill>
                <a:srgbClr val="24313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>
              <a:off x="6854" y="4421"/>
              <a:ext cx="518" cy="0"/>
            </a:xfrm>
            <a:prstGeom prst="line">
              <a:avLst/>
            </a:prstGeom>
            <a:ln w="12700">
              <a:solidFill>
                <a:srgbClr val="24313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>
              <a:off x="8842" y="4421"/>
              <a:ext cx="518" cy="0"/>
            </a:xfrm>
            <a:prstGeom prst="line">
              <a:avLst/>
            </a:prstGeom>
            <a:ln w="12700">
              <a:solidFill>
                <a:srgbClr val="24313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/>
            <p:cNvCxnSpPr/>
            <p:nvPr/>
          </p:nvCxnSpPr>
          <p:spPr>
            <a:xfrm>
              <a:off x="10829" y="4421"/>
              <a:ext cx="518" cy="0"/>
            </a:xfrm>
            <a:prstGeom prst="line">
              <a:avLst/>
            </a:prstGeom>
            <a:ln w="12700">
              <a:solidFill>
                <a:srgbClr val="24313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3494" y="4946"/>
              <a:ext cx="1248" cy="3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670" b="0">
                  <a:solidFill>
                    <a:srgbClr val="4878A8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事件驱动</a:t>
              </a:r>
              <a:endParaRPr sz="1200">
                <a:latin typeface="Songti SC" panose="02010800040101010101" charset="-122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482" y="4946"/>
              <a:ext cx="1248" cy="3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670" b="0">
                  <a:solidFill>
                    <a:srgbClr val="B87A32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需求扰动</a:t>
              </a:r>
              <a:endParaRPr sz="1200">
                <a:latin typeface="Songti SC" panose="02010800040101010101" charset="-122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349" y="4946"/>
              <a:ext cx="1488" cy="3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670" b="0">
                  <a:solidFill>
                    <a:srgbClr val="4878A8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局部可观测</a:t>
              </a:r>
              <a:endParaRPr sz="1200">
                <a:latin typeface="Songti SC" panose="02010800040101010101" charset="-122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456" y="4946"/>
              <a:ext cx="1248" cy="3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670" b="0">
                  <a:solidFill>
                    <a:srgbClr val="B9575D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连续动作</a:t>
              </a:r>
              <a:endParaRPr sz="1200">
                <a:latin typeface="Songti SC" panose="02010800040101010101" charset="-122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1443" y="4946"/>
              <a:ext cx="1248" cy="3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670" b="0">
                  <a:solidFill>
                    <a:srgbClr val="4E8D83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环境更新</a:t>
              </a:r>
              <a:endParaRPr sz="1200">
                <a:latin typeface="Songti SC" panose="02010800040101010101" charset="-122"/>
              </a:endParaRP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5228" y="6019"/>
              <a:ext cx="1943" cy="749"/>
            </a:xfrm>
            <a:prstGeom prst="roundRect">
              <a:avLst/>
            </a:prstGeom>
            <a:solidFill>
              <a:srgbClr val="E4F1EF"/>
            </a:solidFill>
            <a:ln w="10795">
              <a:solidFill>
                <a:srgbClr val="4E8D8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6" tIns="27432" rIns="36576" bIns="27432" rtlCol="0" anchor="ctr"/>
            <a:lstStyle/>
            <a:p>
              <a:pPr algn="ctr">
                <a:defRPr sz="680" b="0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奖励计算</a:t>
              </a:r>
              <a:endParaRPr sz="1200">
                <a:latin typeface="Songti SC" panose="02010800040101010101" charset="-122"/>
              </a:endParaRPr>
            </a:p>
            <a:p>
              <a:pPr algn="ctr">
                <a:defRPr sz="680" b="0">
                  <a:solidFill>
                    <a:srgbClr val="24313D"/>
                  </a:solidFill>
                  <a:latin typeface="Songti SC" panose="02010800040101010101" charset="-122"/>
                </a:defRPr>
              </a:pPr>
              <a:endParaRPr sz="1200">
                <a:latin typeface="Songti SC" panose="02010800040101010101" charset="-122"/>
              </a:endParaRP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7704" y="6019"/>
              <a:ext cx="1699" cy="749"/>
            </a:xfrm>
            <a:prstGeom prst="roundRect">
              <a:avLst/>
            </a:prstGeom>
            <a:solidFill>
              <a:srgbClr val="F5F7FA"/>
            </a:solidFill>
            <a:ln w="10795">
              <a:solidFill>
                <a:srgbClr val="B8C1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6" tIns="27432" rIns="36576" bIns="27432" rtlCol="0" anchor="ctr"/>
            <a:lstStyle/>
            <a:p>
              <a:pPr algn="ctr">
                <a:defRPr sz="700" b="0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轨迹样本</a:t>
              </a:r>
              <a:endParaRPr sz="1200">
                <a:latin typeface="Songti SC" panose="02010800040101010101" charset="-122"/>
              </a:endParaRPr>
            </a:p>
            <a:p>
              <a:pPr algn="ctr">
                <a:defRPr sz="700" b="0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经验缓存</a:t>
              </a:r>
              <a:endParaRPr sz="1200">
                <a:latin typeface="Songti SC" panose="02010800040101010101" charset="-122"/>
              </a:endParaRP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0008" y="6019"/>
              <a:ext cx="1728" cy="749"/>
            </a:xfrm>
            <a:prstGeom prst="roundRect">
              <a:avLst/>
            </a:prstGeom>
            <a:solidFill>
              <a:srgbClr val="F4DFE1"/>
            </a:solidFill>
            <a:ln w="10795">
              <a:solidFill>
                <a:srgbClr val="B9575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6" tIns="27432" rIns="36576" bIns="27432" rtlCol="0" anchor="ctr"/>
            <a:lstStyle/>
            <a:p>
              <a:pPr algn="ctr">
                <a:defRPr sz="700" b="0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MAPPO更新</a:t>
              </a:r>
              <a:endParaRPr sz="1200">
                <a:latin typeface="Songti SC" panose="02010800040101010101" charset="-122"/>
              </a:endParaRPr>
            </a:p>
            <a:p>
              <a:pPr algn="ctr">
                <a:defRPr sz="700" b="0">
                  <a:solidFill>
                    <a:srgbClr val="24313D"/>
                  </a:solidFill>
                  <a:latin typeface="Songti SC" panose="02010800040101010101" charset="-122"/>
                </a:defRPr>
              </a:pPr>
              <a:r>
                <a:rPr sz="1200">
                  <a:latin typeface="Songti SC" panose="02010800040101010101" charset="-122"/>
                </a:rPr>
                <a:t>策略参数</a:t>
              </a:r>
              <a:endParaRPr sz="1200">
                <a:latin typeface="Songti SC" panose="02010800040101010101" charset="-122"/>
              </a:endParaRPr>
            </a:p>
          </p:txBody>
        </p:sp>
        <p:cxnSp>
          <p:nvCxnSpPr>
            <p:cNvPr id="61" name="Connector 60"/>
            <p:cNvCxnSpPr/>
            <p:nvPr/>
          </p:nvCxnSpPr>
          <p:spPr>
            <a:xfrm>
              <a:off x="7171" y="6394"/>
              <a:ext cx="533" cy="0"/>
            </a:xfrm>
            <a:prstGeom prst="line">
              <a:avLst/>
            </a:prstGeom>
            <a:ln w="12700">
              <a:solidFill>
                <a:srgbClr val="24313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>
              <a:off x="9403" y="6394"/>
              <a:ext cx="605" cy="0"/>
            </a:xfrm>
            <a:prstGeom prst="line">
              <a:avLst/>
            </a:prstGeom>
            <a:ln w="12700">
              <a:solidFill>
                <a:srgbClr val="24313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/>
            <p:cNvCxnSpPr/>
            <p:nvPr/>
          </p:nvCxnSpPr>
          <p:spPr>
            <a:xfrm flipH="1">
              <a:off x="6276" y="7263"/>
              <a:ext cx="7204" cy="0"/>
            </a:xfrm>
            <a:prstGeom prst="line">
              <a:avLst/>
            </a:prstGeom>
            <a:ln w="19050">
              <a:solidFill>
                <a:srgbClr val="4E8D8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 flipV="1">
              <a:off x="6278" y="6768"/>
              <a:ext cx="0" cy="495"/>
            </a:xfrm>
            <a:prstGeom prst="line">
              <a:avLst/>
            </a:prstGeom>
            <a:ln w="12700">
              <a:solidFill>
                <a:srgbClr val="4E8D8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65"/>
            <p:cNvCxnSpPr/>
            <p:nvPr/>
          </p:nvCxnSpPr>
          <p:spPr>
            <a:xfrm flipV="1">
              <a:off x="10872" y="5724"/>
              <a:ext cx="0" cy="295"/>
            </a:xfrm>
            <a:prstGeom prst="line">
              <a:avLst/>
            </a:prstGeom>
            <a:ln w="19050">
              <a:solidFill>
                <a:srgbClr val="B957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6"/>
            <p:cNvCxnSpPr/>
            <p:nvPr/>
          </p:nvCxnSpPr>
          <p:spPr>
            <a:xfrm flipH="1">
              <a:off x="10080" y="5724"/>
              <a:ext cx="792" cy="0"/>
            </a:xfrm>
            <a:prstGeom prst="line">
              <a:avLst/>
            </a:prstGeom>
            <a:ln w="19050">
              <a:solidFill>
                <a:srgbClr val="B957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 flipV="1">
              <a:off x="13480" y="1742"/>
              <a:ext cx="0" cy="5522"/>
            </a:xfrm>
            <a:prstGeom prst="line">
              <a:avLst/>
            </a:prstGeom>
            <a:ln w="19050">
              <a:solidFill>
                <a:srgbClr val="4E8D8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11185" y="2469"/>
              <a:ext cx="2448" cy="3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defRPr sz="680" b="0">
                  <a:solidFill>
                    <a:srgbClr val="4E8D83"/>
                  </a:solidFill>
                  <a:latin typeface="Songti SC" panose="02010800040101010101" charset="-122"/>
                </a:defRPr>
              </a:pPr>
              <a:r>
                <a:rPr sz="1200">
                  <a:latin typeface="华文宋体" panose="02010600040101010101" charset="-122"/>
                  <a:ea typeface="华文宋体" panose="02010600040101010101" charset="-122"/>
                </a:rPr>
                <a:t>离站后进入下一站段</a:t>
              </a:r>
              <a:endParaRPr sz="1200"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cxnSp>
          <p:nvCxnSpPr>
            <p:cNvPr id="75" name="Connector 63"/>
            <p:cNvCxnSpPr/>
            <p:nvPr/>
          </p:nvCxnSpPr>
          <p:spPr>
            <a:xfrm flipH="1">
              <a:off x="13225" y="1758"/>
              <a:ext cx="257" cy="0"/>
            </a:xfrm>
            <a:prstGeom prst="line">
              <a:avLst/>
            </a:prstGeom>
            <a:ln w="19050">
              <a:solidFill>
                <a:srgbClr val="4E8D8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/>
            <p:nvPr/>
          </p:nvCxnSpPr>
          <p:spPr>
            <a:xfrm flipV="1">
              <a:off x="10080" y="5302"/>
              <a:ext cx="0" cy="45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7" name="334E55B0-647D-440b-865C-3EC943EB4CBC-6" descr="wpsoffice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58" y="6394"/>
              <a:ext cx="1857" cy="288"/>
            </a:xfrm>
            <a:prstGeom prst="rect">
              <a:avLst/>
            </a:prstGeom>
          </p:spPr>
        </p:pic>
        <p:pic>
          <p:nvPicPr>
            <p:cNvPr id="78" name="334E55B0-647D-440b-865C-3EC943EB4CBC-7" descr="wpsoffic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0" y="4488"/>
              <a:ext cx="228" cy="170"/>
            </a:xfrm>
            <a:prstGeom prst="rect">
              <a:avLst/>
            </a:prstGeom>
          </p:spPr>
        </p:pic>
        <p:pic>
          <p:nvPicPr>
            <p:cNvPr id="79" name="334E55B0-647D-440b-865C-3EC943EB4CBC-8" descr="wpsoffic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60" y="4449"/>
              <a:ext cx="1305" cy="261"/>
            </a:xfrm>
            <a:prstGeom prst="rect">
              <a:avLst/>
            </a:prstGeom>
          </p:spPr>
        </p:pic>
        <p:pic>
          <p:nvPicPr>
            <p:cNvPr id="81" name="334E55B0-647D-440b-865C-3EC943EB4CBC-9" descr="wpsoffic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34" y="4477"/>
              <a:ext cx="210" cy="170"/>
            </a:xfrm>
            <a:prstGeom prst="rect">
              <a:avLst/>
            </a:prstGeom>
          </p:spPr>
        </p:pic>
        <p:pic>
          <p:nvPicPr>
            <p:cNvPr id="82" name="334E55B0-647D-440b-865C-3EC943EB4CBC-10" descr="wpsoffic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157" y="4471"/>
              <a:ext cx="334" cy="1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6">
      <extobjdata type="334E55B0-647D-440b-865C-3EC943EB4CBC" data="ewoJIkltZ1NldHRpbmdKc29uIiA6ICJ7XCJkcGlcIjpcIjYwMFwiLFwiZm9ybWF0XCI6XCJQTkdcIixcInRyYW5zcGFyZW50XCI6dHJ1ZSxcImF1dG9cIjpmYWxzZX0iLAoJIkxhdGV4IiA6ICJYRnNnTFZ4dmJXVm5ZVjh4SUVOV1hqSXRYRzl0WldkaFh6SWdWRjlwWG5jZ1hGMD0iLAoJIkxhdGV4SW1nQmFzZTY0IiA6ICJpVkJPUncwS0dnb0FBQUFOU1VoRVVnQUFBbVVBQUFCZkJBTUFBQUJiMzYzMkFBQUFNRkJNVkVYLy8vOEFBQUFBQUFBQUFBQUFBQUFBQUFBQUFBQUFBQUFBQUFBQUFBQUFBQUFBQUFBQUFBQUFBQUFBQUFBQUFBQXYzYUI3QUFBQUQzUlNUbE1BSWtReUVOMTJpZS9ObWJ0VVpxc1NzcSs0QUFBQUNYQklXWE1BQUE3RUFBQU94QUdWS3c0YkFBQVB1MGxFUVZSNEFlMWNhNGhrUnhXK1BkUHo2SGwwVDN3RVRTTGRKQVovaU13Z0lvcktkSFFqQ3hGN0RGbEoxR3lQUmxRUTdCRVZSSkh1b0pHTlFYcURpV1pCN1ZGOEpBajI0b3VnWUk4ay9nclk0dzhsSU5qdEQvMnhDYzRtT2tsUEpwbnlPM1hyZmUrZDdwNjVkNzJyV3pCenEwNmRPdlhkVTFXbnpxbDdiM3RlMnRMRUk4M2RiNVhTaGlyVmVCYWJER253MlZTRFRCZTRUSFgzSTFlOXJzcllkcnB3cFJuTjZ1NEs0RTB6ZHBCbWxLbkNsbW4rZ3VOWlpheWZLbUFwQnBQYjg4Rk5NUFpTaW1HbUNscjMzd0xPRG1QbFZDRkxMNWpPcHNCV1pHdzl2VERUaEN6TEJocytuaHhqYTJsQ2xsNHNrNHc5NTZPYllVd3UwL1RDVFFVeW1INnhDU3d5OWt3cUlLVWVSSWF4ZlIva0FtUFBwaDV1T2dCVzJZcytFTXl6ZjZVRFV1cFJYTHNyWWlaRUFxbFlteE9QN29sZHlYdU10RGRSN2FkV2lmT01OVklBTHR2WmF3MVdPSkJsdG9WcmtUMmZLS3pydm5nN3UvZFhmby9lek5teCtpb3d0amxXZzJTWWI5NHY1NFRUMCtLQTJvd2wweE9YdXZBd3puU1F4R3BycjNsZXRqbzRkZTdjdVFkUG5aRXVCVGluMmVDZU84NDllTWIyWVd1TUxTVUl6aEE5OGJHSXRBMG0rTmh6ZmhTWDlZOWFFbzFQcmlGOTNYZmhxU29ibE5ENURJMFNYQW1aWGdETlQxT1MxSmNVdWphWjVqRHA4ZWVYWmYvdUZidlI0cTduNVgwazJNaHBFRmNaSzhXUHdaZjROaUQ0Mm11Unp6N0IrK3h4YS9EeG43WTRzdjBMSDFVZFR6ekNTWHUvTnVjVnRzMkc0a2cyZzVrVG5yQnZUMkVmeXZuSFVuUCtvc1N3cnlTRWgxVDJNeUg3Umt3eGpGS1pGN05OMU54cTkvcGVrTzcwcTJWRmtRMU1GVXB5RWxkMHZ2dWp4NjQ2Y2VMRW01SGR2K0dxRXplOS9PMmZRaFp4U08rODUxVjhPeklsUE1kNlVtY0hpSHpZMzlRTjdoeDR5d3l6bktjYXFseDFxSWhKTldsZE11OE1vL21Dd0lQSWpWMFVFREN0a0sxdVFXKysweU5VNXhVUzJnTW1xb3g5UTkwL0xNSmRBQ2JLWkQ1MGxaOXJ1VFlDaUVzdVUwTGxQTnVUUXdpRG9FODY2K3lzbHgyZzB4WXlTRjB4aXZLRUwyNDRkV2ZpVkFkTSt2ZHdjT1F5MWIycVNrbXFzUy9MYk5MWEFudEFkcEVIdEMxWm1JWDZNdStIUFJhUEp0cGlDdWJsNEV2R2VLNjN3RUtzbUtKV0FVYWVVaFNRdHlySjIxZzN1YkZkc2QyeVRVbXUxQjJvcm1ZQlRSWHlBaFFDRWs2cit0UE5tMzhwQ1N5Wkt0Tmp4enZBVWxPbllRUnN5KzcyNUo1ZGhnazU3MUNTSzNiZ1VvaFV4RmpMUEFaeWkrZHp2dTNIZE52ZzVkbEVRcnEzQkI0YTRiZ0NlNmVmY0pqb1RxdTJBMk14NGZoRUlQRXZ4dkQwdE5XbHViN0VHWXFNVHl4c0ZTVmVyalQ0SmQ1L3RQdTQwNlNsNXhZWmpVMnJ4MGxYaDcxTHRnRjRjSUpXRkpnZGJYVkpaejY5NXRzeGVBSit1YmVwK09QTEZOVzVvWllKQjZNc1N1U0cyQ3FkMGd1Qzh5eXk5K21XU2VmbXhYa2Q5ZFBVVmhlQmkwRFY4dEhtbURBZ25WTDhrRExvK1N1dTJHVkd1elpQdEtHdnlRSy8xcHlEc3RwK21laUwzK08xQ2YrcjZKTk5zaUFhMlp5dlRCQzNDVUpCT2tzQlJ5a0dnRGVqNTVJcnA4QU9KSWxpem91eVFOZU1zMVNuaFk5RWNVdnlxYWUxUktPNXFYcWM5ODk4UkppSk9OUGZLeGJValNqTzQyYzZMTVNDei9xR2xLVFRhRXEvZy9jMlB5anpxL3hYRXdkVUJVdXpzamJ1YTJkZFNiVGNNeS9uK3hUU2pvbG93TXM3aTBLMVBrWUc3b3h3WkV3aFU4YWhLeGlzZnJ2K0FFcjJhZmwyeStwWlNVcndtalhpT01zOTgyYjlSVHNuM0EreEZYZ1ZQUzlqZzdVS2xhd0VwT1dNVXdyWU8xTkwyZVo1aTcwbURVeTliOUdUS1N3YXJtRVJyM0RwWGdyK1lwaFRvWG1EMTlXM05VdGN1V3JBT1NQSjg4SkdVYjVsQjFaenhraWpkbnF3UkV5ZTkwNjJ6cS9KL2pPOStwN3Bubm5GQnU5NVd1eVhiWC9VZVFRYU15UmFtaUcyZTE0dU9IUzNZMEh6VnNWRFlBR2t4czVRd21RTTdpUXhZeVZ4c3cwdEZNQ011S2pZNXpVTC90ckVFZFpGS3VjTkRsNGZ3NzhpN25VektDZG5US2E2ZW9iSithcHJKanQ1YnpLSkNXZFd4NTdQbHJWSWpKTXgzQmxSMCtUUUVmMXhtOUU3ci9rUHkxM3Rncy84OE9kUi9CZ3JRejJLYThvd0ZEMHpxa05ZVjFKY3lOU2x3bkExNldQbU14OTJHMXp6d1JXWDVKUnBRMjg0TkJScjNLeDA3K1IyYmNMWjQ0UHNQaVVUa0FRUDFWV2phRXo5N29jSW1uMUJFNWN0ZFJRdGY0ZmlMcG1jNkVBTEdDRlhOTWFJczhNcnZIdElPK3YwVFBQbTJjR1N0emdvdDlrUE1LUWpIbEhsWE44QkliNkk4YlZra1NNWFIrNTdadVdDUHY3M2l1QXBxOHFPRlRQQWcxVEpVcWJpSHkzVE1yWkQzcUlTNWpYYXNnajd0azNpcFNmWjNsUE4reEYvc3U5MjlpTG1pdHVzNi9vT05DQU5sOHN2QTVvUmZvVHpGTUNqMXNsQ0tNendocU5URjJ3UEVBMTdsaDhSS29uY3MxQ1YvUFVoOWgyMFdQaDc4L1JXYU1zZ3NlbytPQ2FkWFF6eUVhV0dxbzN3S2tXMUR0Qm0zUW1oMkk2VG1RcUFnTTZHMmNmaWNMV09pbWs2TUhGb2JWclJqeFpWUlZYb1dHa1dQUHN5OU9vZW5SbDh4OGpXQXJhUUZrRDVjSW05VU0veThEWVJ0U2Z0alkyNHVsRTZJeE1lZ092S0pidlJGOFRKd0lSd3VZOVN6allETnBVTVpmbHdXVHVXZTNZNDc1RGF1ckhsQ1ZZc3p2QzFTZDZWdTVJRDRvbnByS0RtaG1vNDBId0VBbjltNy9EMWhxN05wdVdlT2MzSEt6YXRqYzF2MjRyWUEyalpCWWJZN2M3Y1FsUnc2VElkcXp3YjRrWGx6Rmd5VEhxRWV4YkdPb3dXdXJHdHFvbGlOeWVyRVQ0RERUN2pBQzJyRnFsUmYveHM5NldnakVsNXpocXM4aWswbFAyb3l2SG84NE1RZm5yMkY1WlcwYTljZG1IMW5FWURLbUlVOStnc3NzMTRGWjFHQ0g5emlMOFg1WjZGaUJwR3FvU01HUjZNcjh0MjJWWkpacmtYeERaMU1TSUhuWWtGSERZaElocU5RYzZHK253NzRpd2c2bFBIU1Bkc2pKNEZhNjJoMnJ4TDVXYjBYbnFqVnAvbnRhR09iY1VWbFlHeEZRUFJIRG9wbzJRY1JwL1dTeU83b2hqci9qaEZmdXBZak04OXEyN0lYaGUxZHVSekxNOTd3bnBZMllIT05FclowTDIyNU9ZNk05U1hjNXVPVko3U1czZFBIelQxTGxMajZFOGRlK080WnkrN1BqVGRVS1krakxQZmluN0VKcDVqM2ZTR2g2R2tkZUx6VXdmRnNpeEVYbmNrdWxWOWM1SE1aa1VtRk9qMTE3L0paTUxMVCtwRUoyc2NHTlRYaUN2NlUwZWdDak5EdG1oUlVxOFo0bjZ0eE9meWdvNXQvRU1SM21xTysyeGtOVTliT211QkV0cUpSYXpMQjZDdGhrVWZXcWhDZkdncVdVMjdaMlZ4V2ovdTh0cWJvQjd5cVNNc2h0SzFiQjkxTFlTaUFKRlA2ems5RlRyYVovZFBoUE5uVHQ4RnozOWRTNjVHMklUZmFSYmtlb0pyVVZ0RnF6NnlFSVhVaElERzdRMHBZZDd3c0R2Ym9Nb1hvZUR2T0pOcUxQZHNCamNhbGdiM1U4OVQya1UxRHB2Rjh3WFUyenByaFlkTzAzWW9zWXJ1U0habHlPNVBQRmI2WEJoTzBPNWRzdGlxSlZrc3lBMGFCRzQwb2o5MWpORTlxMXlVL1VNN011c3RyOG1zclRQWWhIMVpZMXpGbzBKSnFlQTI2UzUzSWdKOXlYZkVhMWJqWE5VZTlnU1AwanFiUW1qUldoOGcwcXRMMjBmczBXbldiVWpDZ3FFT1BmdHRuYlhEZFZhMGxVUFdvRVF2Y2NlRVVTSVUxd1h0YW5UMXRzV056Q0dmT3BKWnA0RzAwMXYzeXpaaGxKSy8yeERudEdFQm1pdXlyYTJ6bXJUdXN0cS90dnRXbWVCQlhja2NuZW1YVTlCblRRL0xMRDJIQmxyaGZPQ2d3QjVJVEg2dGF3a1hScTR2ODZOZmQ4NUwzaGs5enhlMWRGdG4zYkNPNGErVXBCQit4V2M1dEozVXJhZnBGc2V4Q25sdEh1cDZtZllhRUFyVEwvd0FtQzk3bHdUMG9IbkZnbFgzUHpxbVZsL3k1clhLYzFxNnJUTU1sa1lwRzNvejJsL2hORElkZmJ5M0FiMGxrUXgwZUdGY0puNGptRGRDb1RoUDA3c2I4YlFET3ltSUdOMXRLV0QwcTM0eElLZG5TMWQzWit1TXpvTEtBZUVWemM3ci9GYzZjb01BWXp5RVdUM1BXcXJuQlI5OWxiM29kNEo1WmsvenFqdnhpRzlDdmtBMUZqSjlzRjNSTTZpNXBtVFlPaU50bEZTZHpIU2MrVTFucGcydko5QkxydGl1QlhXT21kWG1aTlluUm43cVNPZjFqU0NFNjVhQ3RLRVUzV3RMUlpJemhnOXA2NHdjdzAxWHBud3hWZEhSaGwxMFgyMVJ0Y2ZPNkk4ZWNub3UxWFhneVR2QXFtdVlQZEU0OWszQ01mTEtVbUtqMlJCeWxvMzFaK3ZNNnpoUXFFWGdOSW5HOUptOEllUVkrRUthRnBUUFVGZGh3SVN6UytLMVJYdHdZM1RQdktZY241NTZjSmx0R202OW83T2lhMXB4VDlXK2UyUFEyYlBMVXJCYmVlenlyRndHc0ZseW1aNjBOY1FmS2xyTEx0dzlPeHFXbHJEVUZGb0lBM1N6T1dhT3poQzJPNXVrTis4U29FVzRTZFcxb3dFYTNrcTk2OVlENWkzT242MjZzOXI5MUJFN2ZteDdVa2NNVUkzdEN6OFo3eGl2YStDT3pzaWcrVEFWUytzMmxaV1pEcmlVZFpURTJLN3pZclBEaHRRUnB1VlYwcFdWbldBS05HU2VYN3RoN3BuRk1YcWg3WnVFYXhuN05QTy9RWHBTVFhpUzR1Z00zODg1TDIyL2VyY2M2SzBObFJuck8xQi9QQUpNRTFuZVRJYzlYMlNERldSeE51dk1hbFFzV2Izc2hMbG5Gc2ZvQmVqZzIrWHNIMmpKVlJsN3VqejVKOXRpdVRyRDRGcEtXbVRCYWNiZlVHaU1qbUZNVG5MMkgvZmVBeTJjaFpVNmVOeDdCNUNYYkNHQlR4MmJycjltODQ5VkttQks4SFMzVnhjNXRYK1NJRmRuNUU4L29IdklkZzUwUWVXNmtMU2xTckZuSk03QkVqMSs1a21mQXZMZU1CVkxWcmZrYXRqeEo2cGZmK2FiRnRPb0Jka3JwbkpGOUw5dnRnM29EQTBHSmNYeGlkRFlZMVdGTUlveHpreGRBTDBia2E1STUyMzU3cWVPbVJyNG5pdmJUTGV3YzBmN0lBYnZrZktFRjk1bzY2Ums5Ui9RR1ZtMEEyRXJzcDluL09EU3hrSmZLeXUzejYyS28zelN4MGtXcStkbnJXR21POUgyWS9MUFgvam5iL3liM1AzdGhSOS9TUUhJd2tkcTdhbmlPQm1vQUdtUHRGRG5XZHQ0QjNXVzZXQVcvWkc2ZUUySGZTaTBxNEo3NEJmS2RXUWlEQm9sR2k2eFREWnRXVDFqM01reE01TVlic1RuV00vdG81bVFTUnFEd1RwMXloOE43cFlvcTFKUVo5NWtDeTN1dS9DVGh4ajd1dUt6TWxQVzFtdFZ4VkxBeDVDTWZaV0xlcEt5dDlwU3JVOGQ1OW5nekNuNjBZOXpwMDdkM3NSV0oxTnZ6VU5Zc3lHTFkxMFhmems0dmVXM2VQZWpndytVN01ZaE92TW02QWtlMHVBek5xOHE1WFVjcUdpeFp2NVN2ZWRwWDJEMms4MTd2dS9JN2prYmdGTXRpbFhNdUtZYlBvU3pqa2tOMDVublhmMFVmdlRtSHl0UnNpYmtEeWxGTVNSS0grMVR4MFhZUUhqbzJ3bEFDZGRaQWgzRkozSzBUeDJuRUNuQ0dtS3l4WjR1UDUyTitLa2pmVUk5eTV3Tk54NzFYWDQ2Ry9GVHgxZXVlM0NieExGRVBMcVNVaTQ3blkzenFlT09QbkdWOXh2SDliTFRtWG9idGQ0ZmR2K0lJb2J5REpNUlZuKzU2V3ljVHgwUitKVEM3dm00TlBqYzY4ZVZjU25iai9PcDQ5RFhsbzhJSEdjLy9TTTIvVzgwRTdFVWQ3bUh1aEZGOVRnaFJxZ25ibnBqSFJINVk2ODRFYVBRUkVVQnJrcERPNm9uY0pJZ1ltRUNzVDRVUUNvWVlIMVZrbzlYb29FMWpWQSttbXU4bWdrS2IrL0FEMXBhVHdqR2szRnB1ZWxvVWFhd3cxQUxEYWJFbHVmOWZ1Z1N0aHI5bnhmeS9Fa1VoZXBYMHFnYXFOQnpuc25oUzNoVWVmOFBmUHpIQ0pQNG5ZUC9ZZVhWV1FQSDhQaTdra2JXUUkwKzNlcHNqOHgvaFJHZlg4RFZtTlpuM1ZkVU1vSUc1ckUyMjdlTndIaUZSV2tnVzkzcjdKVlY4VXBtRkExTVAzcmZWaWpmZndBSTh3VjQ2cUlsc0FBQUFBQkpSVTVFcmtKZ2dnPT0iCn0K"/>
    </extobj>
    <extobj name="334E55B0-647D-440b-865C-3EC943EB4CBC-7">
      <extobjdata type="334E55B0-647D-440b-865C-3EC943EB4CBC" data="ewoJIkltZ1NldHRpbmdKc29uIiA6ICJ7XCJkcGlcIjpcIjYwMFwiLFwiZm9ybWF0XCI6XCJQTkdcIixcInRyYW5zcGFyZW50XCI6dHJ1ZSxcImF1dG9cIjpmYWxzZX0iLAoJIkxhdGV4IiA6ICJYRnNnWEc5dFpXZGhJRnhkIiwKCSJMYXRleEltZ0Jhc2U2NCIgOiAiaVZCT1J3MEtHZ29BQUFBTlNVaEVVZ0FBQURNQUFBQW1CQU1BQUFDYmxMNHhBQUFBTUZCTVZFWC8vLzhBQUFBQUFBQUFBQUFBQUFBQUFBQUFBQUFBQUFBQUFBQUFBQUFBQUFBQUFBQUFBQUFBQUFBQUFBQUFBQUF2M2FCN0FBQUFEM1JTVGxNQUluYVozYnN5NzBUTkVJbFVacXY4dFd6Z0FBQUFDWEJJV1hNQUFBN0VBQUFPeEFHVkt3NGJBQUFCczBsRVFWUTRFVzFUdlU0Q1FSQmUvanc0d0NPeHNFUUxheWp0b0RHeE85L2c2S3lNWU9qaEVmQUpvS014Z1RjNGF4cG9qT1g1QUNiNGZ5S1J6NW5kMjF0eStCVzdNOSszTnpNN095Y0VJWFhNNnpZT3pscktyWWJiTk5sNW9LT280U29oVFlDMXBFcjRTa2dCb0FKbE1kMlZJS25hUjBJUkZCQWpJdTNlZDFJcVJWSVI5YVFrS0JselZqamFrUXFxalBudmppTDJJTy9qdFhjbDBkc1FhV1B4ajdSOEl6SnR1bVMzNGtNK1Y1MVZMV0V5NEtNS3dRdnRrMWZ0MnZqVXB2Q2JaTTRIMmsrRGN5czA2clEzcHRyTlJlMW0zMXZRNHZiWlpEZ3dIZU1XMnFyRkxGM2poVGRHbmp0ZU1yWFBjU0Y1V2pKY2R0RzhTTTFjM3VMSDNkOHEyTVFPMmlRVlRNRkxZdzZmU0xMTVY4TzR3Qkw2SkRseEx0c1VhRW5TaVJNVXpHRDVzcGtPS3ZRdHc0K2JrY2NQRXhhT2VCT2lET2pZWXpVdEJYQ2RCSm9VM0V2TGR1V2tpUnplcFo4R1BLajNPWVI2dHd6azdLWThyS3NJVzNTczNFTlRucWFmWWpVVGQwdGdrQVUyTTNIbFF0NktWRW9oRVZhSzJ0UWo0VWRFaDk0bmduNkFzZkpEdWw2Z3pMaDFsSXh4UzdHamlIVlpCQytYck54STk1SE44MWdSNHNIdFBpdlhQdWwxVDdYeUJ3Ly83S0RUcHlRQkFBQUFBRWxGVGtTdVFtQ0MiCn0K"/>
    </extobj>
    <extobj name="334E55B0-647D-440b-865C-3EC943EB4CBC-8">
      <extobjdata type="334E55B0-647D-440b-865C-3EC943EB4CBC" data="ewoJIkltZ1NldHRpbmdKc29uIiA6ICJ7XCJkcGlcIjpcIjYwMFwiLFwiZm9ybWF0XCI6XCJQTkdcIixcInRyYW5zcGFyZW50XCI6dHJ1ZSxcImF1dG9cIjpmYWxzZX0iLAoJIkxhdGV4IiA6ICJYRnNnYUY0dFgzdHBMSFI5TEdoZUsxOTdhU3gwZlN4dlgzdHBMR3A5TDFvZ1hGMD0iLAoJIkxhdGV4SW1nQmFzZTY0IiA6ICJpVkJPUncwS0dnb0FBQUFOU1VoRVVnQUFBZzRBQUFCcEJBTUFBQUNnKzdiQkFBQUFNRkJNVkVYLy8vOEFBQUFBQUFBQUFBQUFBQUFBQUFBQUFBQUFBQUFBQUFBQUFBQUFBQUFBQUFBQUFBQUFBQUFBQUFBQUFBQXYzYUI3QUFBQUQzUlNUbE1BRURKRVpuYUpxN3ZONzVraVZOMlRCb1ArQUFBQUNYQklXWE1BQUE3RUFBQU94QUdWS3c0YkFBQVAxMGxFUVZSNEFlMWNTNGhrVnhtKzFlLzNRd21hRVZJbExqUnV1aGNLRXBEcWpVdXR4a1VJSW5UandnUVhka2V6Q0FxcGlyalFBVk1qb2lSWnBCcWk0MlRRVk9zcUVMQnFKU0VRZTNiR1JOS1ZSZkNCcE5ybnpGUmlINy96L3MvalZ0MjZWVE0xd3R4RjMvUDR6M2YrKzUvLy84OTN6NjJaSkxuTjE5eFBiL09FZCtoMFN6ZnZVTVZ1czFycjU3ZDV3anQwdXJ0MmtBdHoxdzUzN1VCRDlLNC8zUFdIdS81QUxUQlJmN2ozK1ZDVmliWk1LRDhjM0duMGJVSjJhTDQzMGRVUEo1K01IYWJaUDBOVmdwWVBmT3JCeDU4ZG04RUtIL3Zjdzk5dkhnZXp5SWJKMkdHWkhhWG9RNXJuR2IrdWs1YVJpbFVCZDVpQ01SazdyTE45cTgrclFrSG5qOGdlUzZMcFgxWnd0RkpUd08ya2dFekdEcWVzYmZXcE9pWVFGV0dINlFjZmh1N3ZXOEhSU3AvKzZyZUFUZVoxNENaamh6cDl5NVVMZGY3MHQxOFcxMitncmM0ZWNJa2pSOTNSS2szV1N3T1lpQjBLN045V255bnVBVGUrYUJwT1ViMm1hckJEV2tBYitTRUt6ZlJzTXhFN3pMSy9XKzNuOE55WE4weWRtOFZZcWNqWWp1a1p1VkJnTERYYlRNUU9pNnhtSDJxTk1ibzM4cXg1ckh0UEdTdnBzcnEvaFg3ditwc25rbFpkWmV3ZmJ0K3NqRWtYNzVldXpDMnNuUmpIeHlRbmpHM2J1UXJRN0lhcHRoZ3paVldvdWtyem1uRWZYOWFyTHpOMjVqWmhEY0xMVHU4S2o3OTJRSjl1ejFra3J0a2xNMk9YMkVRMWZ1TGQ0SHJVeVBjdkFMdm1Tc3c4cDhHNlRKZmUvWkVyY3d0ckRxdHVVSGRJNm95ZGIraXBFZEJaMTFvUDZYY3ZNcmFiMWorSi9PQ3dhbWZ2U0RpSC9JWFJOUXhvMDVXbmNCcG1Hd016Q1R2TVUxS3d5anBHbVNRNWdCMUtwaDRHdE9uS1UyaUYyY2JBVE1JT0RxdWVKOCtkek1BTW1rTkJ4VENnamQ1NUNwRnNZMkFtWVFlSFZhL1Q5QXpQcFlTaDJDZWd6Uk5rTHZUTk5wT3dRMTI4UGlqOXkyVDlIUTZGZnBpbGxQa3hCd3IyelRZVHNFUEJZWFd0am4wQWgwT2h1ZFVub08yb3JLVysyV1lDZG5CWWRkSzBXNW5Mb2ZCNFhVWTlKK3Z6cHNraDIxaG00Z3ROd0E1cmxNMU1NY01XZUZwME5FVkEvOGZYZDRRNnNzMSs2dkFKMkdHTHN1b1praVlkRGdXTnA1M05JL1VSc25hVUhRTHZqWnFBSFE3b0ljRFVkNHhDTG9kQ005NUV6MHp2NkFWd2szU1FDZGpCWWRWRU01ZERvV05SaE1ucVM5MFhIeU5pdVlzTmtXM2VmS3IzcDUwUUk1Y2Q3bm1pK2VKak5xNUQxSDR0MDg1N2xaWDBPQlE2UkVEL3RzbGVaT3huVmk1dlNXU2JsYSt4WHBmMWRnT1FQSFo0SGU5Q09OcHBCMkNaR3VZZEltMkhuREtIUTZHREIvUU11MXhLVnB0ak9KWVMyYWJTKzBxU3ZCRTVsc3BoaHpkWTc4dEpZUy92cTZERHFxMFpmQTZGSGdSS29TcCt2N1UxaG8yRFo1c1A5WGFBaTZuMmNYT3U0ZTN3Q3V0ZEE4UktOK2NhVmVKbnhqNkh3aFFJNk1VYkl2eVFLZHFPMmprcVBOczBuaFFERytFcCtOQjJRQmovVUlCZGNJN1RzaXZtc0dvekxPQlFTWUtBZnE5K0tDUXc2YkVSelZsQXRubEpmUlNxaEtvUGJZY0RIVnpRamZ2RnNKZkxxczFvckpiRG9kQ0JnTzRweFZIc0dOR2NCV1NicHJRcUVzKzVEektzSFVEU2F3cWpTWThSZk56VXVzdXFqWmpQb2RDQmdOWlBqNGcrTTZJNUM4ZzIrdW0zUWlZeDdPOG5xNWJ5VjNObHlyVm9XZ2s0RkI2V3UwaGJQalQ4Z1p6MDV6TkV3MzRiZzJ0c2VDQkQvcDUyMW9JbGUrbGZoN3hKYUhYTE9ZN1VQVmlzNEJWNzNaNU9JZ1pIdGdObTJGWFRWVUk3YUVVeTNtSEpIUzE2R3FxdXUvcmNXNVJWYXprOEp6MkhrczJZcTZNRUVDSkhxcGozQnBmU1lZRU5PYWJFRU1ncjlBc2hva3diZUFpSUtLdUdTYTE5TlJoOFpGdVZFVGFYZEhQT08weHBUbnhJY09kRFE4amFMMk93dzZHQ3VWOXU4eUhvRnk1N2JWRldIZUZRR0NiZkI4UjR2SkhycVR5OHpGVk9IN1J3Vis5NXVtSFlPMXoxeUl6Qkl0WmtaU1ZOVGFTVGJTTXZDbEZXSGVGUUVDYW5EOFZjcnVmTXZHNUpKSWpKaUo5RnVsU2Zpb2xmc3BrNmN5ZExnYnNYSTdGVUFPd05keUJxQ0dqanlKaXFGQWdNMTRBbDFFdUNiT1I5NXh3T1NoeXJ0ODJZQTJPSGhlQnhsZEM2MmZuMHFFcXdZOGtOMHZoc1VsS2lDT2d6UGFvYWJ2aTZLK3NkMm1wUlpCdURyTnVHdWlOTVRjNU4rQ2M0cGYxMHlGTWw3akw3cnpkQkkxeDQ5MXZlbFA1QkZBM29ac1JmUE9CQlZaSnQ0S1cxUWVKOSswOUl5Q1pKMDhLOTFrNFo5OWtOdDJPRjVGbmQ0M0tvZVgwa3VXNERHbm5VcG1jOWJNZzdVWDByelgyelF1N1J3RUp5SFA3bFp6YmlrUWNBS2hrVjFuWG9sbTFBSTBSRy9aa1V6VGFZc0czbXkxUG8wdTBDbjBYQ1BYOFFhb1JWZXh6cTlFaGhRRnVOQmtmdTZITE9PODAyVFJyZE9mQ3czNURBd2lZeHZGa2pyQnJyVHUxWlAxYWFrWURlb3R0VURzVXhoR1FiUk5sbzJ5YW5PN3RHRFN6U1RWUEpXbWdGaE5ialVBV3p1NUdBYm5rV1Q2VnQ2V3FzMjJ5REJYU2liRXFkenFRUDlucDRKR3liTml6UzhHWnQ2aXhvWUY0RnFIWUJOTTVxUTlHQWJyb1dUNlZ0QmpRc2xLM3FXTUJMVk9Ca1dIWUpkbWhDTnNIcnBtdFdDcDFXWGcwSWpNK2hsdDVUWTBsQXd5U094Vk5vMjBiYXJMeWRaQnVZWkplS3RxS2Jjb0dLdUdYTVQraERneVlMVnpDMUZySnF4SzJ6T3FlYVE1S0F4cno4clh2MVVZVWJwMjE3Mm9MUjJVbTJhY20zN3Q5cnU5VmptL0lzZFZJUEVVdGtNd0tQNjVJUStNelZIM3VDc25yUHN5Lzh5dXNJV1hVZHR0VUtjZUhHbVJwQ0FocU9YRVBybW83cUtHMkRQaFJIb1pnYnlUYUtsSFhicXJNY2UrU3RQZ2NlaUF0TjloTCtTeVpaK1RCN2hzVit3VGpMcmpUb1JzQm5EVmkxeTZFU01QZERvNTA1L2l6TERXWHJTSFVsTWRvR3A5SGRrVHRDU3pOYkZEa3BtOUtKS0ZuNVkyUkFLMEowdEJoMmV1dDdSWFZFVk9nZUpnM3JKbG9XdFB0NW5EQnFMMWZOQWF0RzJCSU9sU1FYek1PalI2OXZWUlpieHhZOExDMUZvMXpMd1pYMWdSWk16NHZMOWxHMEVMMDNoUXZTRmx0R25yYURvZWN1NzFyQUR0QXkybHRoL3VWaHhUdjNXVEdMb3VROERwVWtWYk9vRFp1TDFOdG9zMlRSdzlJSnphWFRMMzNUbFVDMjZhZ1dCRndOeFNYTlcxV3plOE9qaXFlVHJUNGNQdVpwY1hBcVdhNTArQnZYdm00MzkycE5mSUZvbXdZVTVueG5nOGM3b2JOc0Y5WGFIRHB4bjU0bU9acUNxbktGYmtWWXBIMUhCZyt2dmVsRWZtOG9keHdCcjRJRkt0a21INDdzTU1iQVBOMDB6U1JtN0RUUGZuaUNiZE9DZ3MrcWVhNTFDTVdlU2QxdVFKOWg4R0wvVjYwcU96SlRZYkRuZVRENE5kV05JaTgxZGxROWVwdW5uaHpBd1pSNkZJNDYyN3pNZjhlQng5M2haWHBkNEc0SDR0V21qVDZyOWpnVXo3MDZpa2xBQTZVRGxOTWpDaFdVNmFkZ25uM2RsSVVWeGJxSTYxUUUzS3BKa3dFU2IxaXluaSsyQkJjTytHcDlZU0s1UjZ6QlphRnoyMGM3T0VTTG44TTlWdTF6cU9tdURGMk9aZnhOSEV6VjBOSlZVL1BlOEhMV2d2L0F5RldKWkp1eWlMMDFMNE43aUNmR01kRVJ3QlZNRmoxbE42VjlpMGZjZUhBSzcycTIwYkRtbWpIeFdEV2VsWEtvR1pqQk9OYTZEV2djVkI3RHBpWTFlVFBKS2dLYXp5Z3ZFQzBuei9HelRwUGgxMFd4eGRjcC9hcFFyaHpDbFpXWjRBRTFDZks3M1NRcGU4SEllejdQL3hUZDZGK2w0T2l1VXc3MTJpTmNlZU85V3phZ3dZbHJJTVp2YzBSY2Nkcm1CRFRmaHB5VWhVUUV2NVhYSEYrMU9VM2VwaSsrZ0NjSUxwcHR4SEdrQThjRC9ockdUTlVaL2NjYVZYOGIwTENuTG45WW9Lc3Zvb2IxbmhIWGMzL2xtdU15VVYyeEpvRmJ2Wi9jcnhXUDBMYnBwaHdzOHdpZkhCYlczM1NGTGpDTVRqejgxNGp0cVlheWFxRitzM0hlRmpMbXp3TWF6V3hRUGx5U1BNQ3VsNUlQMXEyWFlUUzIwQlFuODBpWng2clg5WHprYnQ2bnlpUlJGUnFzeXg2VmVzWm9HMy8vazFkSFBjeHM0NTNpSlZYbU42UXpxK0s5N0p4ZDM1Qzk5MTFISnFLU2FON1RhTVlPUGh5RXNFOTBHWHRId1Fnd0dIdGJvdnAvdSs0VUhxdStvT2NqZCszOHllelZmWXUyZXJIM0RWV0wwcmJDNWliK05jdm1KdFZxM1htNkw5SHZTYTgzZjE1U2NQVjlKSE1UTXFweGMvTWV4ajY2dWFtcTR1YkNvZW5OWjlrVi9NYUlYSXQwcnlYdDNGRjJhYjBScGxQYW5hbWNTdHNJZlJCQXhWb0d2QmtzK1lLYnhNUW9KOXRraFR1SkFJbXh5Q1lsVVpCL0FsWk4raklYVTJnYnFOeWhpN0YxN05hak5mNEt1K1FFdVJSejZJTm95Z0IzNEcwRFprYlFEVk5HSVdEVnRETmpPWTIyZ1Q0NHJnZmE1ZFdqRTFScS9OL0poVVRWZVZrUkl6UEFHVkxoVCtYeGlpVjM3L0dsTTlYVGFCdHlWTWtGYUcyNzlXaXRlNDFuUERpRmR6a3ZLNkp2TUJ4eU1kRGVhbnRRcUhwV0xmdXFoaU1HdHFUUnRqQ2dtd094c05OeGNoMWJSb2MrQ0tEQmNGSUZIcmYrNVZtMWhhUTA2cFZHMnp6WEE4VXhUS1RQbEN2dmlDMFZ5K2hkZ1cweXdCVjVucG1TejdqNmNva2dldndxTFoyU0VabUtIcXdZNDdrZVNGb1k5SEZ3TDRrSm9URGJaSUE3NVMvKzgzTGFxa01nWGF2NnJEcXUxdURXS0czelhBOEhXMmVEa1lSRWtSQTJQU1RNTmhuZ0R2ak96ZU1XWG9GZlBQSzd2RHlyZXF4YVN3MTlqOUkyajduaWlHdy9JM0RGV1RvNXlIOVB6Z1MzeDBsamZZY2pjSUpyZzgyemF0RzhTOHJKOHY2TjByYXVmdTlUcUN1OWpZejREYjZNM3JYR1g4WG9sUVZ1Q3lyTXlxd0U0a1RvakJkNWUrWmRrczR3ZkRsRzIzem1PdWp3eXM0S3A5MjNOVlVxMHJOTzNqYmdMRXdNVzRCQlcrcTlBSzhlY0E1MWVUbTgwZjhBUVk4YWVJL3Q5eDV6aFIvWEJ1SklnZGdaVWlKU0hnWElBbGZvM3F5clE1bmtsYXRmNzVqeGJnNGZDNnZtMkc3MmxiUDVBVDJUT1N5OHhaSndmcmJKQmpkNzhZcE5DbXZXSDl3Y1BoZUpRem5yY0granRFMEY5TUtPd2lyM1BaU25FNG96cEZYdk81VEtOdC9WZ3RuaDlJaGtxV2FLTGlrYkI2dm0wRkhhdGk0RCttQmZUZjZIdGlvTXZBa2x6UmRESlM1ZlZ1Yk1VWHAyT0RQZnliNHB1a2RqNDJEVkhEcEsyN2JFeDRzQ09hSTBXdlF2SU1FZUo4bFdSMGk5K1dzcGpPMi9oRkl4Zk8rUS9WbitWcmExRkhLWEthT3RPZ1pXemFHanRLMGlUZ2FYelFKcUhRYmVaWUt0N25CQjdHOVNZV3o0dko2WmduQmgvNnJ6aHJmNDFyREFuQ2YzdHlKL1lOWjZsTGExUlBJcGQ3S0NHTGs1MWxPdlcvQUtwbExZTW04YzlQM01RRVFMMDN4SllPUWREa3MvRVV4SDNtNmpDSU1hbzdSTk5LNDQvamNJUi9iUDhwUGhCZmxTc0tjUHRVVmpja0xWejRabXBSYjVzVEMrUyt6eVkrRmoydzdiMUVodGhHS1V0bTJ4VHBKOE11dXJGWmw5aWpQSHZVdWk1VlIvc3AzaW5qelYzQ0Z5d3haYk1FQ0NnK2cyVHA5Y2J2cEllMWlzdUh5VXRzMGhUODV5NHc5OTFYdko4dm1HR0liUFZwSVc0MmltbE95Wm8vT2hNZkdDSVo1OWtlZUN5cmdjd0ZNalR0dXE3UEZtcnYvcTlUNzJ0UHIzaDhuS3hjdnZ5c25tMmZXTHZXMXY0bUdxNVE2WG5zTi8rZk9SY1owMkJOTkhhZHZVRStjL0NDUXpOVHgwbFF6OGl4cnk4ZTZmcjJVYW5TTDBrUFN3T3ZzZXU5Rk9rUmxyTTZGdDQ4QzlNZzRRaTdINlZPOG5iVnU5aFNWQzI4WXd5OHJ3QkdRTXM0NER3dEsyY2FETmpMSlZqa09CM0JpQ3R1VWU3UTljT1BOYi9rL3FncmFOVDlmeS92aXdiaXVTb0czam03RWgwL3o0QUc4WGtxQnRZNXRzZVJUcU5EWXRjZ0JKMnBaallIeklYaTNlZnNlM1N0bzJMalVIL0VCelhOUGNBaHhGMjhhRVBQdmttSURHQ1BNL0dtN2kvaXZSam04QUFBQUFTVVZPUks1Q1lJST0iCn0K"/>
    </extobj>
    <extobj name="334E55B0-647D-440b-865C-3EC943EB4CBC-9">
      <extobjdata type="334E55B0-647D-440b-865C-3EC943EB4CBC" data="ewoJIkltZ1NldHRpbmdKc29uIiA6ICJ7XCJkcGlcIjpcIjYwMFwiLFwiZm9ybWF0XCI6XCJQTkdcIixcInRyYW5zcGFyZW50XCI6dHJ1ZSxcImF1dG9cIjpmYWxzZX0iLAoJIkxhdGV4IiA6ICJYRnNnWEdGc2NHaGhJRnhkIiwKCSJMYXRleEltZ0Jhc2U2NCIgOiAiaVZCT1J3MEtHZ29BQUFBTlNVaEVVZ0FBQUM4QUFBQW1CQU1BQUFDbUJ0OVhBQUFBTUZCTVZFWC8vLzhBQUFBQUFBQUFBQUFBQUFBQUFBQUFBQUFBQUFBQUFBQUFBQUFBQUFBQUFBQUFBQUFBQUFBQUFBQUFBQUF2M2FCN0FBQUFEM1JTVGxNQUVIYXIzZTltVkxzaXpabUpNa1JscVhZUkFBQUFDWEJJV1hNQUFBN0VBQUFPeEFHVkt3NGJBQUFCeUVsRVFWUW9GV1ZUdTA0YlFSU2RKUmpIZ0kyRmxCb2tLaXFvSWxFZ1c0cW9qU0pGRkVnc2RPazJmMkQrWUtscFRJUkVhMm9hdGdWRk1nMDEvZ05RWXZOS2xNTTVkOWI3RUxlWSt6aDN6cHc3cyt0Y2FzSEsxdmpMd1NUTGZUVUd0b0NOdk9LamFvaXZSMjRSMkM4anRSZzdxaHpqVHhtSThOeFVKUWh4YnNqc3VybDV3QWV1aXllcjNKMll1OHdZcGdIYk9rZ0VmQUJPNUdsVHdMSjhaNmgxQUJ6SjAyckFObDE5cktRQlBNcWJoWGJJL0Y4bFBkL2xnUmlxVmY0cjZ4ZkhHa0FzOStJamt6R3F4N2sxT3k5ZVpraUZ2MVh5MWdXR2xDRE5FZkF5S1pNRStPSG03T3dPMEM0Qis2Nm5UaXBIa2dOM21yQjF6Z0pueFUwSlNPbzJMODh1aUhMY2tYejhwOFlsNERuZm9HbVRxSzBDV3dwcUJWeFJNSzBMMlB5S2FRU3UvU3R5MUFkZnMzVUpDTnNXWFpiRzBKR3B5RUgrU21va1lKcnMxdFp0cTE4V01vSUk2WWVSQVJxYjFuc0hKRlozRmVEUVI3YVNLdkhwWEVhcVBPaG5CTHpkd2h5M1ZEdlJFaGNtbjhJdnIvNHpkMy9LTDdIZTN3dU1lVWIzV3RWam10VmF2S1VZZkw2S2ZjSGRsS3NSdnc0bG4xOWY2MUNkalJDYmZPTHZVTjNOWU5ROEhqY0ZPUDRGSS81bXV6ZVdSUmpocDBYY2M5RVpuYTZtU1hEOTdZemhHMXZ6K2dFak9UUHlBQUFBQUVsRlRrU3VRbUNDIgp9Cg=="/>
    </extobj>
    <extobj name="334E55B0-647D-440b-865C-3EC943EB4CBC-10">
      <extobjdata type="334E55B0-647D-440b-865C-3EC943EB4CBC" data="ewoJIkltZ1NldHRpbmdKc29uIiA6ICJ7XCJkcGlcIjpcIjYwMFwiLFwiZm9ybWF0XCI6XCJQTkdcIixcInRyYW5zcGFyZW50XCI6dHJ1ZSxcImF1dG9cIjpmYWxzZX0iLAoJIkxhdGV4IiA6ICJYRnNnWEVSbGJIUmhJR1FnWEYwPSIsCgkiTGF0ZXhJbWdCYXNlNjQiIDogImlWQk9SdzBLR2dvQUFBQU5TVWhFVWdBQUFHMEFBQUE5QkFNQUFBQlZXUHFTQUFBQU1GQk1WRVgvLy84QUFBQUFBQUFBQUFBQUFBQUFBQUFBQUFBQUFBQUFBQUFBQUFBQUFBQUFBQUFBQUFBQUFBQUFBQUFBQUFBdjNhQjdBQUFBRDNSU1RsTUFacGwyNzd0RXpkMVVpUkF5cXlLbHFUVjRBQUFBQ1hCSVdYTUFBQTdFQUFBT3hBR1ZLdzRiQUFBRGZFbEVRVlJJRFkyV1BXOFRRUkNHSjlnNE1Va2dpb1JFbDNSME9QL0FMaWlRS000MFVNWVNpRFlwYU5HbG9nSEpTTkFmTlJKS0pCbzZSeWxvUTBHQkJGTFNJVkVsSkNIbWMzaG5QM3k3YzJlZnQvRGR6czdPM3JQdjdLeUo0cmE4RlBlbjdOWDRlRXJQMkszT3A3R2gwSnQvLytMTnZXUlYyZHZNYThxa3VpMlc5a0ZaRSthT01xa3VQTkRVTHRSZ09sR09xbnYvOVVjNEhjYldPa3hWZ0VSSndhZU5lVldBTXU5dnZCd3NhQjFsMU4xNTFtTFYrQ3JtVlNuWVpQNFh4NnFmTmpDdkN2QkM0WlBheDVSaW90cmtPRGJSWEVHK3BFTWJtTmZSbm5GL29DUFhzSld6bUZjQm1HbjU2aUNiQXJDbGQ2QXRxWkppd2NtQWZTMGY4S2dhc0NDZjRGRTFZRUUrd1pzQ3NDRGZpajBKVllBRitReGVOZUJBWmY2TU93aFZDbWJNdXdMa204V3pnRU52TEhtMm1DT3J3eHV2WVBOVDhyaEgxT2V6YUo3REk4S0g4RlkwWkRwdkU3N0ZaenVRTDZva0hzL2tlMG1Lb3ZUY29FYi9LZVQ3RXdiMWVFUVk0UUxnL0RvL2cvdkZjOGgzRk00YjRRa0I4L053RE84UCtOeFkrdGVZdStIWUNLOFVFTWRrMDNqTCtWd0w1dVY0RnZCbk1JYlhmUjd1R0F1eUpaSnZMcWdxUmNBRjVoODJrRlRtTUdTQVZ3S1k1eVFpUlBMMU8wR1VERUczZ2o3aGlOdlBKQ1ZmaUZjRXhLNzhjbUh3R3NvM0YzMjBCc1MxNFN2dHBWaSt6TWV6WVpXQzdWd3puSlp1UU5EL0hYU0lWbUxBSk0rREs1RjhUWDRWelJPVmNnVm4wUFBEMEgzWHY4dEd1TzF5SnZITVV4UlJiSkpoZERzUGdaN0NVd3J1QjBjbmplUlRlQXF3blc4bjVZcGdPWTFISkJmMkNERE5yeHJJNXhKT2lEUWVrUUI2SnFUSTZIOUhMRjhCVCs1dzVwN0V0SVZxeWI1S05kOTByM2dVOEN5Zzg1QzFkNTN6Z0FQRmluZ1dzT1RvUUw2ZUMxR0dGd0dpb25qVVdMNFN2QkJ3a2ZtN1h5TTFJUnFmVGI4RUx3VEVlcjVpWW12bEFNeWFvMVNHRndKaTcvMk5qd01tMElNaldXOVdKYWZZaUtTUVdDeThlYTFkOGN5NjRyRVJuejB4U1JzcGlKTGlqempTU01RNVdCT0hORDU3WXBMV3hvTGlSTWhKbjNJdDVsVVlra1A4TlBqdXc3S1dZWjc5dmdQUEp4bUFwUnFtWnNvOU9hNVp3SDMveHlPRDN4TFJvZ0ZEQ294dlBYeVFKS1U4OEdYTHBtQU1USkZLeDg5eWdKZGRlVms1d1JaaHZlMnVDVEpwbmdYTStEWThGekZuSFNkcXdmeTdub1RuYTNxVGh6MzZsandoZW9ldGVtbXlSMDcyK09adW02L01mWk5zdUQ1dlJ2ZVljRTlvZTQ5TzcrekllT1A2OElzOC93T0VRK3ZrVFM4SUJnQUFBQUJKUlU1RXJrSmdnZz09Igp9Cg=="/>
    </extobj>
  </extobjs>
</s:customData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WPS 演示</Application>
  <PresentationFormat>On-screen Show (4:3)</PresentationFormat>
  <Paragraphs>56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宋体</vt:lpstr>
      <vt:lpstr>Wingdings</vt:lpstr>
      <vt:lpstr>Arial</vt:lpstr>
      <vt:lpstr>Songti SC</vt:lpstr>
      <vt:lpstr>Calibri</vt:lpstr>
      <vt:lpstr>Helvetica Neue</vt:lpstr>
      <vt:lpstr>宋体</vt:lpstr>
      <vt:lpstr>汉仪书宋二KW</vt:lpstr>
      <vt:lpstr>Arial Unicode MS</vt:lpstr>
      <vt:lpstr>微软雅黑</vt:lpstr>
      <vt:lpstr>汉仪旗黑</vt:lpstr>
      <vt:lpstr>宋体-简</vt:lpstr>
      <vt:lpstr>DejaVu Math TeX Gyre</vt:lpstr>
      <vt:lpstr>仿宋-简</vt:lpstr>
      <vt:lpstr>报隶-简</vt:lpstr>
      <vt:lpstr>华文宋体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张小河</cp:lastModifiedBy>
  <cp:revision>2</cp:revision>
  <dcterms:created xsi:type="dcterms:W3CDTF">2026-06-25T07:26:01Z</dcterms:created>
  <dcterms:modified xsi:type="dcterms:W3CDTF">2026-06-25T07:26:01Z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964D31340B13B10909D83C6A6D69653D_42</vt:lpwstr>
  </property>
</Properties>
</file>
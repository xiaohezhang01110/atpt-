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88825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29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34"/>
        <p:guide pos="290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7" Type="http://schemas.openxmlformats.org/officeDocument/2006/relationships/customXmlProps" Target="../customXml/itemProps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8" name="组合 67"/>
          <p:cNvGrpSpPr/>
          <p:nvPr/>
        </p:nvGrpSpPr>
        <p:grpSpPr>
          <a:xfrm>
            <a:off x="301625" y="172720"/>
            <a:ext cx="11771630" cy="4336960"/>
            <a:chOff x="498" y="364"/>
            <a:chExt cx="17904" cy="6642"/>
          </a:xfrm>
        </p:grpSpPr>
        <p:sp>
          <p:nvSpPr>
            <p:cNvPr id="58" name="圆角矩形 57"/>
            <p:cNvSpPr/>
            <p:nvPr/>
          </p:nvSpPr>
          <p:spPr>
            <a:xfrm>
              <a:off x="10582" y="364"/>
              <a:ext cx="7820" cy="55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4026" y="364"/>
              <a:ext cx="3026" cy="55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498" y="381"/>
              <a:ext cx="3026" cy="5522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7377" y="381"/>
              <a:ext cx="3026" cy="552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58" y="718"/>
              <a:ext cx="1660" cy="498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300" b="1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sz="2000">
                  <a:latin typeface="华文宋体" panose="02010600040101010101" charset="-122"/>
                  <a:ea typeface="华文宋体" panose="02010600040101010101" charset="-122"/>
                </a:rPr>
                <a:t>输入信息</a:t>
              </a:r>
              <a:endParaRPr sz="20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417" y="482"/>
              <a:ext cx="2462" cy="97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300" b="1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sz="2000">
                  <a:latin typeface="华文宋体" panose="02010600040101010101" charset="-122"/>
                  <a:ea typeface="华文宋体" panose="02010600040101010101" charset="-122"/>
                </a:rPr>
                <a:t>事件图注意力</a:t>
              </a:r>
              <a:endParaRPr sz="2000"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300" b="1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sz="2000">
                  <a:latin typeface="华文宋体" panose="02010600040101010101" charset="-122"/>
                  <a:ea typeface="华文宋体" panose="02010600040101010101" charset="-122"/>
                </a:rPr>
                <a:t>增强编码</a:t>
              </a:r>
              <a:endParaRPr sz="20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3338" y="718"/>
              <a:ext cx="2462" cy="498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300" b="1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sz="2000">
                  <a:latin typeface="华文宋体" panose="02010600040101010101" charset="-122"/>
                  <a:ea typeface="华文宋体" panose="02010600040101010101" charset="-122"/>
                </a:rPr>
                <a:t>策略网络输出</a:t>
              </a:r>
              <a:endParaRPr sz="20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8" y="1677"/>
              <a:ext cx="2736" cy="1037"/>
            </a:xfrm>
            <a:prstGeom prst="roundRect">
              <a:avLst/>
            </a:prstGeom>
            <a:solidFill>
              <a:srgbClr val="E5EDF7"/>
            </a:solidFill>
            <a:ln w="17145">
              <a:solidFill>
                <a:srgbClr val="4C73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5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>
                  <a:latin typeface="华文宋体" panose="02010600040101010101" charset="-122"/>
                  <a:ea typeface="华文宋体" panose="02010600040101010101" charset="-122"/>
                </a:rPr>
                <a:t>当前车辆状态</a:t>
              </a:r>
              <a:endParaRPr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5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8" y="2843"/>
              <a:ext cx="2736" cy="1401"/>
            </a:xfrm>
            <a:prstGeom prst="roundRect">
              <a:avLst/>
            </a:prstGeom>
            <a:solidFill>
              <a:srgbClr val="E5F1E8"/>
            </a:solidFill>
            <a:ln w="17145">
              <a:solidFill>
                <a:srgbClr val="5087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3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华文宋体" panose="02010600040101010101" charset="-122"/>
                  <a:ea typeface="华文宋体" panose="02010600040101010101" charset="-122"/>
                </a:rPr>
                <a:t>邻居事件集合</a:t>
              </a:r>
              <a:endParaRPr sz="1600"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3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3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92" y="1677"/>
              <a:ext cx="2189" cy="1037"/>
            </a:xfrm>
            <a:prstGeom prst="roundRect">
              <a:avLst/>
            </a:prstGeom>
            <a:solidFill>
              <a:srgbClr val="E5EDF7"/>
            </a:solidFill>
            <a:ln w="17145">
              <a:solidFill>
                <a:srgbClr val="4C73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华文宋体" panose="02010600040101010101" charset="-122"/>
                  <a:ea typeface="华文宋体" panose="02010600040101010101" charset="-122"/>
                  <a:cs typeface="华文宋体" panose="02010600040101010101" charset="-122"/>
                </a:rPr>
                <a:t>状态编码</a:t>
              </a:r>
              <a:endParaRPr sz="16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Times New Roman" panose="02020503050405090304" charset="0"/>
                  <a:ea typeface="华文宋体" panose="02010600040101010101" charset="-122"/>
                  <a:cs typeface="Times New Roman" panose="02020503050405090304" charset="0"/>
                </a:rPr>
                <a:t>FC + Tanh</a:t>
              </a: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392" y="3664"/>
              <a:ext cx="2189" cy="1037"/>
            </a:xfrm>
            <a:prstGeom prst="roundRect">
              <a:avLst/>
            </a:prstGeom>
            <a:solidFill>
              <a:srgbClr val="E5F1E8"/>
            </a:solidFill>
            <a:ln w="17145">
              <a:solidFill>
                <a:srgbClr val="5087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Times New Roman" panose="02020503050405090304" charset="0"/>
                  <a:ea typeface="华文宋体" panose="02010600040101010101" charset="-122"/>
                  <a:cs typeface="Times New Roman" panose="02020503050405090304" charset="0"/>
                </a:rPr>
                <a:t>GAT </a:t>
              </a:r>
              <a:r>
                <a:rPr sz="1600">
                  <a:latin typeface="华文宋体" panose="02010600040101010101" charset="-122"/>
                  <a:ea typeface="华文宋体" panose="02010600040101010101" charset="-122"/>
                  <a:cs typeface="华文宋体" panose="02010600040101010101" charset="-122"/>
                </a:rPr>
                <a:t>聚合</a:t>
              </a:r>
              <a:endParaRPr sz="16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华文宋体" panose="02010600040101010101" charset="-122"/>
                  <a:ea typeface="华文宋体" panose="02010600040101010101" charset="-122"/>
                  <a:cs typeface="华文宋体" panose="02010600040101010101" charset="-122"/>
                </a:rPr>
                <a:t>事件影响</a:t>
              </a:r>
              <a:endParaRPr sz="16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704" y="2530"/>
              <a:ext cx="2088" cy="1181"/>
            </a:xfrm>
            <a:prstGeom prst="roundRect">
              <a:avLst/>
            </a:prstGeom>
            <a:solidFill>
              <a:srgbClr val="F4F6F8"/>
            </a:solidFill>
            <a:ln w="17145">
              <a:solidFill>
                <a:srgbClr val="8FA1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3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华文宋体" panose="02010600040101010101" charset="-122"/>
                  <a:ea typeface="华文宋体" panose="02010600040101010101" charset="-122"/>
                  <a:cs typeface="华文宋体" panose="02010600040101010101" charset="-122"/>
                </a:rPr>
                <a:t>特征融合</a:t>
              </a:r>
              <a:endParaRPr sz="16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endParaRPr>
            </a:p>
            <a:p>
              <a:pPr algn="ctr">
                <a:defRPr sz="13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728" y="1745"/>
              <a:ext cx="1944" cy="2730"/>
            </a:xfrm>
            <a:prstGeom prst="roundRect">
              <a:avLst/>
            </a:prstGeom>
            <a:solidFill>
              <a:srgbClr val="F9E8E5"/>
            </a:solidFill>
            <a:ln w="17145">
              <a:solidFill>
                <a:srgbClr val="B9594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 anchorCtr="0"/>
            <a:lstStyle/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Times New Roman" panose="02020503050405090304" charset="0"/>
                  <a:ea typeface="华文宋体" panose="02010600040101010101" charset="-122"/>
                  <a:cs typeface="Times New Roman" panose="02020503050405090304" charset="0"/>
                  <a:sym typeface="+mn-ea"/>
                </a:rPr>
                <a:t>激活函数</a:t>
              </a: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Times New Roman" panose="02020503050405090304" charset="0"/>
                  <a:ea typeface="华文宋体" panose="02010600040101010101" charset="-122"/>
                  <a:cs typeface="Times New Roman" panose="02020503050405090304" charset="0"/>
                  <a:sym typeface="+mn-ea"/>
                </a:rPr>
                <a:t>Tanh</a:t>
              </a: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3608" y="1677"/>
              <a:ext cx="1843" cy="979"/>
            </a:xfrm>
            <a:prstGeom prst="roundRect">
              <a:avLst/>
            </a:prstGeom>
            <a:solidFill>
              <a:srgbClr val="F9E8E5"/>
            </a:solidFill>
            <a:ln w="17145">
              <a:solidFill>
                <a:srgbClr val="B9594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4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华文宋体" panose="02010600040101010101" charset="-122"/>
                  <a:ea typeface="华文宋体" panose="02010600040101010101" charset="-122"/>
                </a:rPr>
                <a:t>均值</a:t>
              </a:r>
              <a:endParaRPr sz="1600"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4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sz="16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3608" y="3664"/>
              <a:ext cx="1843" cy="979"/>
            </a:xfrm>
            <a:prstGeom prst="roundRect">
              <a:avLst/>
            </a:prstGeom>
            <a:solidFill>
              <a:srgbClr val="F9E8E5"/>
            </a:solidFill>
            <a:ln w="17145">
              <a:solidFill>
                <a:srgbClr val="B9594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4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lang="en-US" sz="1800" b="0">
                  <a:latin typeface="Times New Roman" panose="02020503050405090304" charset="0"/>
                  <a:ea typeface="华文宋体" panose="02010600040101010101" charset="-122"/>
                  <a:cs typeface="Times New Roman" panose="02020503050405090304" charset="0"/>
                </a:rPr>
                <a:t>Softplus</a:t>
              </a:r>
              <a:endParaRPr lang="en-US" sz="18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endParaRPr>
            </a:p>
            <a:p>
              <a:pPr algn="ctr">
                <a:defRPr sz="14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lang="en-US" sz="18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6200" y="2541"/>
              <a:ext cx="1944" cy="1181"/>
            </a:xfrm>
            <a:prstGeom prst="roundRect">
              <a:avLst/>
            </a:prstGeom>
            <a:solidFill>
              <a:srgbClr val="FCEFED"/>
            </a:solidFill>
            <a:ln w="17145">
              <a:solidFill>
                <a:srgbClr val="B9594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4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/>
                <a:t>驻站动作</a:t>
              </a:r>
              <a:endParaRPr sz="1600"/>
            </a:p>
            <a:p>
              <a:pPr algn="ctr">
                <a:defRPr sz="14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lang="en-US" sz="1600"/>
                <a:t>      </a:t>
              </a:r>
              <a:endParaRPr sz="160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0098" y="6153"/>
              <a:ext cx="3240" cy="835"/>
            </a:xfrm>
            <a:prstGeom prst="roundRect">
              <a:avLst/>
            </a:prstGeom>
            <a:solidFill>
              <a:srgbClr val="FAFAFA"/>
            </a:solidFill>
            <a:ln w="17145">
              <a:solidFill>
                <a:schemeClr val="bg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1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Times New Roman" panose="02020503050405090304" charset="0"/>
                  <a:ea typeface="华文宋体" panose="02010600040101010101" charset="-122"/>
                  <a:cs typeface="Times New Roman" panose="02020503050405090304" charset="0"/>
                </a:rPr>
                <a:t>MAPPO 更新：优势函数 + PPO 剪切目标</a:t>
              </a: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226" y="6602"/>
              <a:ext cx="1976" cy="40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000" b="0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宋体" panose="02010600040101010101" charset="-122"/>
                  <a:ea typeface="华文宋体" panose="02010600040101010101" charset="-122"/>
                </a:rPr>
                <a:t>训练阶段反馈</a:t>
              </a:r>
              <a:endParaRPr sz="1600">
                <a:solidFill>
                  <a:schemeClr val="tx1">
                    <a:lumMod val="95000"/>
                    <a:lumOff val="5000"/>
                  </a:schemeClr>
                </a:solidFill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3384" y="2195"/>
              <a:ext cx="1008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3800" y="4182"/>
              <a:ext cx="592" cy="0"/>
            </a:xfrm>
            <a:prstGeom prst="line">
              <a:avLst/>
            </a:prstGeom>
            <a:ln w="25400">
              <a:solidFill>
                <a:srgbClr val="508766"/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581" y="2195"/>
              <a:ext cx="259" cy="0"/>
            </a:xfrm>
            <a:prstGeom prst="line">
              <a:avLst/>
            </a:prstGeom>
            <a:ln w="25400">
              <a:solidFill>
                <a:srgbClr val="4C73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6581" y="4182"/>
              <a:ext cx="259" cy="0"/>
            </a:xfrm>
            <a:prstGeom prst="line">
              <a:avLst/>
            </a:prstGeom>
            <a:ln w="25400">
              <a:solidFill>
                <a:srgbClr val="5087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6831" y="3131"/>
              <a:ext cx="873" cy="0"/>
            </a:xfrm>
            <a:prstGeom prst="line">
              <a:avLst/>
            </a:prstGeom>
            <a:ln w="25400">
              <a:solidFill>
                <a:srgbClr val="55606F"/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>
              <a:stCxn id="10" idx="3"/>
              <a:endCxn id="13" idx="1"/>
            </p:cNvCxnSpPr>
            <p:nvPr/>
          </p:nvCxnSpPr>
          <p:spPr>
            <a:xfrm flipV="1">
              <a:off x="9792" y="3110"/>
              <a:ext cx="936" cy="10"/>
            </a:xfrm>
            <a:prstGeom prst="line">
              <a:avLst/>
            </a:prstGeom>
            <a:ln w="25400">
              <a:solidFill>
                <a:srgbClr val="B9594C"/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>
              <a:stCxn id="13" idx="3"/>
            </p:cNvCxnSpPr>
            <p:nvPr/>
          </p:nvCxnSpPr>
          <p:spPr>
            <a:xfrm flipV="1">
              <a:off x="12672" y="2167"/>
              <a:ext cx="936" cy="943"/>
            </a:xfrm>
            <a:prstGeom prst="line">
              <a:avLst/>
            </a:prstGeom>
            <a:ln w="25400">
              <a:solidFill>
                <a:srgbClr val="B9594C"/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>
              <a:stCxn id="13" idx="3"/>
            </p:cNvCxnSpPr>
            <p:nvPr/>
          </p:nvCxnSpPr>
          <p:spPr>
            <a:xfrm>
              <a:off x="12672" y="3110"/>
              <a:ext cx="936" cy="1044"/>
            </a:xfrm>
            <a:prstGeom prst="line">
              <a:avLst/>
            </a:prstGeom>
            <a:ln w="25400">
              <a:solidFill>
                <a:srgbClr val="B9594C"/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15451" y="2166"/>
              <a:ext cx="360" cy="0"/>
            </a:xfrm>
            <a:prstGeom prst="line">
              <a:avLst/>
            </a:prstGeom>
            <a:ln w="25400">
              <a:solidFill>
                <a:srgbClr val="B9594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15811" y="2166"/>
              <a:ext cx="0" cy="893"/>
            </a:xfrm>
            <a:prstGeom prst="line">
              <a:avLst/>
            </a:prstGeom>
            <a:ln w="25400">
              <a:solidFill>
                <a:srgbClr val="B9594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15811" y="3059"/>
              <a:ext cx="389" cy="0"/>
            </a:xfrm>
            <a:prstGeom prst="line">
              <a:avLst/>
            </a:prstGeom>
            <a:ln w="25400">
              <a:solidFill>
                <a:srgbClr val="B9594C"/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>
              <a:off x="15451" y="4154"/>
              <a:ext cx="360" cy="0"/>
            </a:xfrm>
            <a:prstGeom prst="line">
              <a:avLst/>
            </a:prstGeom>
            <a:ln w="25400">
              <a:solidFill>
                <a:srgbClr val="B9594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 flipV="1">
              <a:off x="15811" y="3203"/>
              <a:ext cx="0" cy="950"/>
            </a:xfrm>
            <a:prstGeom prst="line">
              <a:avLst/>
            </a:prstGeom>
            <a:ln w="25400">
              <a:solidFill>
                <a:srgbClr val="B9594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15811" y="3203"/>
              <a:ext cx="389" cy="0"/>
            </a:xfrm>
            <a:prstGeom prst="line">
              <a:avLst/>
            </a:prstGeom>
            <a:ln w="25400">
              <a:solidFill>
                <a:srgbClr val="B9594C"/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17208" y="3722"/>
              <a:ext cx="0" cy="0"/>
            </a:xfrm>
            <a:prstGeom prst="line">
              <a:avLst/>
            </a:prstGeom>
            <a:ln w="13335">
              <a:solidFill>
                <a:srgbClr val="C8D2D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17208" y="3722"/>
              <a:ext cx="0" cy="2849"/>
            </a:xfrm>
            <a:prstGeom prst="line">
              <a:avLst/>
            </a:prstGeom>
            <a:ln w="25400">
              <a:solidFill>
                <a:schemeClr val="bg2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>
              <a:endCxn id="18" idx="3"/>
            </p:cNvCxnSpPr>
            <p:nvPr/>
          </p:nvCxnSpPr>
          <p:spPr>
            <a:xfrm flipH="1">
              <a:off x="13338" y="6571"/>
              <a:ext cx="3870" cy="0"/>
            </a:xfrm>
            <a:prstGeom prst="line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4236" y="5040"/>
              <a:ext cx="2616" cy="40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000" b="0">
                  <a:solidFill>
                    <a:srgbClr val="508766"/>
                  </a:solidFill>
                  <a:latin typeface="PingFang SC" panose="020B0400000000000000" charset="-122"/>
                </a:defRPr>
              </a:pPr>
              <a:r>
                <a:rPr sz="1600">
                  <a:latin typeface="华文宋体" panose="02010600040101010101" charset="-122"/>
                  <a:ea typeface="华文宋体" panose="02010600040101010101" charset="-122"/>
                </a:rPr>
                <a:t>学习邻居事件权重</a:t>
              </a:r>
              <a:endParaRPr sz="16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675" y="482"/>
              <a:ext cx="2462" cy="97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000" b="0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sz="2000" b="1">
                  <a:latin typeface="华文宋体" panose="02010600040101010101" charset="-122"/>
                  <a:ea typeface="华文宋体" panose="02010600040101010101" charset="-122"/>
                </a:rPr>
                <a:t>融合局部状态</a:t>
              </a:r>
              <a:endParaRPr sz="2000" b="1"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000" b="0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sz="2000" b="1">
                  <a:latin typeface="华文宋体" panose="02010600040101010101" charset="-122"/>
                  <a:ea typeface="华文宋体" panose="02010600040101010101" charset="-122"/>
                </a:rPr>
                <a:t>与图信息</a:t>
              </a:r>
              <a:endParaRPr sz="2000" b="1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3396" y="4981"/>
              <a:ext cx="2296" cy="40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000" b="0">
                  <a:solidFill>
                    <a:srgbClr val="B9594C"/>
                  </a:solidFill>
                  <a:latin typeface="PingFang SC" panose="020B0400000000000000" charset="-122"/>
                </a:defRPr>
              </a:pPr>
              <a:r>
                <a:rPr sz="1600">
                  <a:latin typeface="华文宋体" panose="02010600040101010101" charset="-122"/>
                  <a:ea typeface="华文宋体" panose="02010600040101010101" charset="-122"/>
                </a:rPr>
                <a:t>动作分布参数化</a:t>
              </a:r>
              <a:endParaRPr sz="16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pic>
          <p:nvPicPr>
            <p:cNvPr id="45" name="334E55B0-647D-440b-865C-3EC943EB4CBC-9" descr="wpsoffic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38" y="2239"/>
              <a:ext cx="690" cy="417"/>
            </a:xfrm>
            <a:prstGeom prst="rect">
              <a:avLst/>
            </a:prstGeom>
          </p:spPr>
        </p:pic>
        <p:pic>
          <p:nvPicPr>
            <p:cNvPr id="46" name="334E55B0-647D-440b-865C-3EC943EB4CBC-10" descr="wpsoffi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9" y="3332"/>
              <a:ext cx="2461" cy="420"/>
            </a:xfrm>
            <a:prstGeom prst="rect">
              <a:avLst/>
            </a:prstGeom>
          </p:spPr>
        </p:pic>
        <p:pic>
          <p:nvPicPr>
            <p:cNvPr id="47" name="334E55B0-647D-440b-865C-3EC943EB4CBC-11" descr="wpsoffic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" y="3729"/>
              <a:ext cx="2720" cy="397"/>
            </a:xfrm>
            <a:prstGeom prst="rect">
              <a:avLst/>
            </a:prstGeom>
            <a:effectLst/>
          </p:spPr>
        </p:pic>
        <p:pic>
          <p:nvPicPr>
            <p:cNvPr id="48" name="334E55B0-647D-440b-865C-3EC943EB4CBC-12" descr="wpsoffic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5" y="3146"/>
              <a:ext cx="1586" cy="417"/>
            </a:xfrm>
            <a:prstGeom prst="rect">
              <a:avLst/>
            </a:prstGeom>
          </p:spPr>
        </p:pic>
        <p:pic>
          <p:nvPicPr>
            <p:cNvPr id="49" name="334E55B0-647D-440b-865C-3EC943EB4CBC-13" descr="/Users/xiaohezhang/Library/Containers/com.kingsoft.wpsoffice.mac/Data/tmp/wpsoffice.NdvkMswpsoffic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158" y="2239"/>
              <a:ext cx="743" cy="397"/>
            </a:xfrm>
            <a:prstGeom prst="rect">
              <a:avLst/>
            </a:prstGeom>
          </p:spPr>
        </p:pic>
        <p:pic>
          <p:nvPicPr>
            <p:cNvPr id="50" name="334E55B0-647D-440b-865C-3EC943EB4CBC-14" descr="/Users/xiaohezhang/Library/Containers/com.kingsoft.wpsoffice.mac/Data/tmp/wpsoffice.pQBTNBwpsoffic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332" y="4176"/>
              <a:ext cx="446" cy="425"/>
            </a:xfrm>
            <a:prstGeom prst="rect">
              <a:avLst/>
            </a:prstGeom>
          </p:spPr>
        </p:pic>
        <p:pic>
          <p:nvPicPr>
            <p:cNvPr id="51" name="334E55B0-647D-440b-865C-3EC943EB4CBC-15" descr="wpsoffic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888" y="3153"/>
              <a:ext cx="597" cy="340"/>
            </a:xfrm>
            <a:prstGeom prst="rect">
              <a:avLst/>
            </a:prstGeom>
          </p:spPr>
        </p:pic>
        <p:sp>
          <p:nvSpPr>
            <p:cNvPr id="59" name="文本框 58"/>
            <p:cNvSpPr txBox="1"/>
            <p:nvPr/>
          </p:nvSpPr>
          <p:spPr>
            <a:xfrm>
              <a:off x="10673" y="1870"/>
              <a:ext cx="1999" cy="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Times New Roman" panose="02020503050405090304" charset="0"/>
                  <a:ea typeface="华文宋体" panose="02010600040101010101" charset="-122"/>
                  <a:cs typeface="Times New Roman" panose="02020503050405090304" charset="0"/>
                  <a:sym typeface="+mn-ea"/>
                </a:rPr>
                <a:t>全连接层</a:t>
              </a:r>
              <a:endParaRPr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</a:endParaRPr>
            </a:p>
            <a:p>
              <a:pPr algn="ctr">
                <a:defRPr sz="1400" b="0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sz="1600">
                  <a:latin typeface="Times New Roman" panose="02020503050405090304" charset="0"/>
                  <a:ea typeface="华文宋体" panose="02010600040101010101" charset="-122"/>
                  <a:cs typeface="Times New Roman" panose="02020503050405090304" charset="0"/>
                  <a:sym typeface="+mn-ea"/>
                </a:rPr>
                <a:t>FC</a:t>
              </a:r>
              <a:endParaRPr lang="zh-CN" altLang="en-US" sz="1600">
                <a:latin typeface="Times New Roman" panose="02020503050405090304" charset="0"/>
                <a:ea typeface="华文宋体" panose="02010600040101010101" charset="-122"/>
                <a:cs typeface="Times New Roman" panose="02020503050405090304" charset="0"/>
                <a:sym typeface="+mn-ea"/>
              </a:endParaRPr>
            </a:p>
          </p:txBody>
        </p:sp>
        <p:sp>
          <p:nvSpPr>
            <p:cNvPr id="60" name="加号 59"/>
            <p:cNvSpPr/>
            <p:nvPr/>
          </p:nvSpPr>
          <p:spPr>
            <a:xfrm>
              <a:off x="11299" y="2714"/>
              <a:ext cx="747" cy="687"/>
            </a:xfrm>
            <a:prstGeom prst="mathPlus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cxnSp>
          <p:nvCxnSpPr>
            <p:cNvPr id="14" name="Connector 21"/>
            <p:cNvCxnSpPr/>
            <p:nvPr/>
          </p:nvCxnSpPr>
          <p:spPr>
            <a:xfrm>
              <a:off x="6840" y="2195"/>
              <a:ext cx="0" cy="915"/>
            </a:xfrm>
            <a:prstGeom prst="line">
              <a:avLst/>
            </a:prstGeom>
            <a:ln w="25400">
              <a:solidFill>
                <a:srgbClr val="4C73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4"/>
            <p:cNvCxnSpPr/>
            <p:nvPr/>
          </p:nvCxnSpPr>
          <p:spPr>
            <a:xfrm flipV="1">
              <a:off x="6840" y="3110"/>
              <a:ext cx="0" cy="1072"/>
            </a:xfrm>
            <a:prstGeom prst="line">
              <a:avLst/>
            </a:prstGeom>
            <a:ln w="25400">
              <a:solidFill>
                <a:srgbClr val="5087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40"/>
            <p:cNvCxnSpPr>
              <a:stCxn id="18" idx="0"/>
              <a:endCxn id="13" idx="2"/>
            </p:cNvCxnSpPr>
            <p:nvPr/>
          </p:nvCxnSpPr>
          <p:spPr>
            <a:xfrm flipH="1" flipV="1">
              <a:off x="11700" y="4475"/>
              <a:ext cx="18" cy="1678"/>
            </a:xfrm>
            <a:prstGeom prst="line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18"/>
            <p:cNvSpPr txBox="1"/>
            <p:nvPr/>
          </p:nvSpPr>
          <p:spPr>
            <a:xfrm>
              <a:off x="11718" y="4613"/>
              <a:ext cx="696" cy="1158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>
                <a:defRPr sz="1000" b="0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lang="zh-CN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宋体" panose="02010600040101010101" charset="-122"/>
                  <a:ea typeface="华文宋体" panose="02010600040101010101" charset="-122"/>
                </a:rPr>
                <a:t>更新</a:t>
              </a:r>
              <a:endParaRPr lang="zh-CN" sz="1600">
                <a:solidFill>
                  <a:schemeClr val="tx1">
                    <a:lumMod val="95000"/>
                    <a:lumOff val="5000"/>
                  </a:schemeClr>
                </a:solidFill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000" b="0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lang="zh-CN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宋体" panose="02010600040101010101" charset="-122"/>
                  <a:ea typeface="华文宋体" panose="02010600040101010101" charset="-122"/>
                </a:rPr>
                <a:t>策略</a:t>
              </a:r>
              <a:endParaRPr lang="zh-CN" sz="1600">
                <a:solidFill>
                  <a:schemeClr val="tx1">
                    <a:lumMod val="95000"/>
                    <a:lumOff val="5000"/>
                  </a:schemeClr>
                </a:solidFill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000" b="0">
                  <a:solidFill>
                    <a:srgbClr val="55606F"/>
                  </a:solidFill>
                  <a:latin typeface="PingFang SC" panose="020B0400000000000000" charset="-122"/>
                </a:defRPr>
              </a:pPr>
              <a:r>
                <a:rPr lang="zh-CN" sz="160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宋体" panose="02010600040101010101" charset="-122"/>
                  <a:ea typeface="华文宋体" panose="02010600040101010101" charset="-122"/>
                </a:rPr>
                <a:t>参数</a:t>
              </a:r>
              <a:endParaRPr lang="zh-CN" sz="1600">
                <a:solidFill>
                  <a:schemeClr val="tx1">
                    <a:lumMod val="95000"/>
                    <a:lumOff val="5000"/>
                  </a:schemeClr>
                </a:solidFill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sp>
          <p:nvSpPr>
            <p:cNvPr id="62" name="Rounded Rectangle 5"/>
            <p:cNvSpPr/>
            <p:nvPr/>
          </p:nvSpPr>
          <p:spPr>
            <a:xfrm>
              <a:off x="648" y="4379"/>
              <a:ext cx="2736" cy="132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7145">
              <a:solidFill>
                <a:srgbClr val="5087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3152" tIns="27432" rIns="73152" bIns="27432" rtlCol="0" anchor="ctr"/>
            <a:lstStyle/>
            <a:p>
              <a:pPr algn="ctr">
                <a:defRPr sz="13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r>
                <a:rPr lang="zh-CN" sz="1600">
                  <a:latin typeface="华文宋体" panose="02010600040101010101" charset="-122"/>
                  <a:ea typeface="华文宋体" panose="02010600040101010101" charset="-122"/>
                </a:rPr>
                <a:t>事件图</a:t>
              </a:r>
              <a:r>
                <a:rPr lang="zh-CN" sz="1600">
                  <a:latin typeface="华文宋体" panose="02010600040101010101" charset="-122"/>
                  <a:ea typeface="华文宋体" panose="02010600040101010101" charset="-122"/>
                </a:rPr>
                <a:t>邻接关系</a:t>
              </a:r>
              <a:endParaRPr lang="zh-CN" sz="1600">
                <a:latin typeface="华文宋体" panose="02010600040101010101" charset="-122"/>
                <a:ea typeface="华文宋体" panose="02010600040101010101" charset="-122"/>
              </a:endParaRPr>
            </a:p>
            <a:p>
              <a:pPr algn="ctr">
                <a:defRPr sz="1300" b="1">
                  <a:solidFill>
                    <a:srgbClr val="1E2631"/>
                  </a:solidFill>
                  <a:latin typeface="PingFang SC" panose="020B0400000000000000" charset="-122"/>
                </a:defRPr>
              </a:pPr>
              <a:endParaRPr lang="zh-CN" sz="1600">
                <a:latin typeface="华文宋体" panose="02010600040101010101" charset="-122"/>
                <a:ea typeface="华文宋体" panose="02010600040101010101" charset="-122"/>
              </a:endParaRPr>
            </a:p>
          </p:txBody>
        </p:sp>
        <p:pic>
          <p:nvPicPr>
            <p:cNvPr id="63" name="334E55B0-647D-440b-865C-3EC943EB4CBC-16" descr="wpsoffice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38" y="5188"/>
              <a:ext cx="595" cy="397"/>
            </a:xfrm>
            <a:prstGeom prst="rect">
              <a:avLst/>
            </a:prstGeom>
          </p:spPr>
        </p:pic>
        <p:cxnSp>
          <p:nvCxnSpPr>
            <p:cNvPr id="64" name="Connector 24"/>
            <p:cNvCxnSpPr/>
            <p:nvPr/>
          </p:nvCxnSpPr>
          <p:spPr>
            <a:xfrm>
              <a:off x="3384" y="3563"/>
              <a:ext cx="416" cy="0"/>
            </a:xfrm>
            <a:prstGeom prst="line">
              <a:avLst/>
            </a:prstGeom>
            <a:ln w="25400">
              <a:solidFill>
                <a:srgbClr val="5087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24"/>
            <p:cNvCxnSpPr/>
            <p:nvPr/>
          </p:nvCxnSpPr>
          <p:spPr>
            <a:xfrm flipV="1">
              <a:off x="3800" y="3563"/>
              <a:ext cx="0" cy="619"/>
            </a:xfrm>
            <a:prstGeom prst="line">
              <a:avLst/>
            </a:prstGeom>
            <a:ln w="25400">
              <a:solidFill>
                <a:srgbClr val="5087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24"/>
            <p:cNvCxnSpPr/>
            <p:nvPr/>
          </p:nvCxnSpPr>
          <p:spPr>
            <a:xfrm flipV="1">
              <a:off x="3800" y="4082"/>
              <a:ext cx="0" cy="953"/>
            </a:xfrm>
            <a:prstGeom prst="line">
              <a:avLst/>
            </a:prstGeom>
            <a:ln w="25400">
              <a:solidFill>
                <a:srgbClr val="5087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24"/>
            <p:cNvCxnSpPr/>
            <p:nvPr/>
          </p:nvCxnSpPr>
          <p:spPr>
            <a:xfrm>
              <a:off x="3384" y="5035"/>
              <a:ext cx="416" cy="0"/>
            </a:xfrm>
            <a:prstGeom prst="line">
              <a:avLst/>
            </a:prstGeom>
            <a:ln w="25400">
              <a:solidFill>
                <a:srgbClr val="5087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9">
      <extobjdata type="334E55B0-647D-440b-865C-3EC943EB4CBC" data="ewoJIkltZ1NldHRpbmdKc29uIiA6ICJ7XCJkcGlcIjpcIjYwMFwiLFwiZm9ybWF0XCI6XCJQTkdcIixcInRyYW5zcGFyZW50XCI6dHJ1ZSxcImF1dG9cIjpmYWxzZX0iLAoJIkxhdGV4IiA6ICJYRnNnYzE5N2FTeDBmUW9nWEYwPSIsCgkiTGF0ZXhJbWdCYXNlNjQiIDogImlWQk9SdzBLR2dvQUFBQU5TVWhFVWdBQUFHVUFBQUE5QkFNQUFBQkdqN3BtQUFBQU1GQk1WRVgvLy84QUFBQUFBQUFBQUFBQUFBQUFBQUFBQUFBQUFBQUFBQUFBQUFBQUFBQUFBQUFBQUFBQUFBQUFBQUFBQUFBdjNhQjdBQUFBRDNSU1RsTUFFR2FydTkzdnpZa3lSRlFpZHBsQ1VRTktBQUFBQ1hCSVdYTUFBQTdFQUFBT3hBR1ZLdzRiQUFBRFVFbEVRVlJJRFkxV08yOFRRUkRlOHl1MmN6YXhSSVNFQkltRXFFMURuWUJFbWhTbUlDQVF5Q0JCQXBXRFJFR0Q3Q29TbFVGSVNGUjJnV2dkaVlJRzRmd0I1Q0RST3hRVWlNS0JKRGJ2ajMzTTd1MzU3dUxiSWpQenpYdzN1enN6NnpDbWxuUHFBdFlla3hGUDVDckFDbkF0WHJTS2FtSjVocm1uMFloUE9vYXJNcmovTno2blBwcVJ3UWtvR1lPWnhDMktxbS9IQ0pjaEhWRG9CaGJqY3VxMHBSU3dIcE9UdzRHSzdBQm5ZbktLMkZlUlRXQStKaWVOa1lyczZvU1RpVWVBTFJtVlhmMWtvblAxYzBZUFVUZ25lUFFlOWtKQ0RaUUJoaCtNUmNwQUg5TG5jTFExQmI0ZXRyV3BaQVhmL1lDd0N0Z2hzQ0E0blBXRWJDazZ4bTJoTFh3ank2a3AwcWh0dWQyM2xxSFZBWGExMmxFY1RPenFtdGRiZVVvMGFYeGM2TWJrMlFwRStxVXpoOHNFWUoxNStyUGNIdlZkT0lPeEpJWSsxL0VOd1dyN3NIRWpFNmp6Uzg3WkdRL3oyYjFnemZyd3JzVVhxNDB5L3BENlFrTkowM2Y1cGJWdGpWcHlBVGVWVmNZOWduTTZqMU1aMVErMkNDWHhTaHhYTEg1UHZIRm9laGdERldoMmowMk50M3BmRWhTbng0WCtvcjYzU29NVjhWdWpKRXVsRThEVFVvbWJaWmxONGk1ZGY0S25UK0hIR01jcXp3Q216YVpKUy9QYnllQmZnR1BLczJBdWk1OUJQWTNsUmNaQ1NzRXhhdUltYnVnUGRyRXAxU29YVFZNSzdSWEgrS21NbGk0VGMyazdqbWdxcStzTnlaUW5SYzg3WTgrcGMxeWVPQS9LYVFqMmQ1d3EvVkNkdEcrS3Q0UWRMWFZyZW83aUVSOEs1elZHWE9nMUYraGd4dXpwZVFQY3VRenNxd3RRckRLQzQxZTBjNzgvV3hzKytLcFRTRm5YM1dpaDZkQVh6d1R3clRlTW9aVTVYUjROK0dWV3YrQTIzTlhsc1VGUHo0UnR3M3JjdkVoUDY0aXVucjd1QVVLcnFpays3MGVOSlNzdVd0VmU2bkhMQnZ0ZEJqbnlNV2xkbE1hN0w0cklwMWdVY0c3c1M4ckpkeVhkQy9QQzVoM1JGbEtVVkloQlEvd05ycXdZUHRtcWpMVkFwU3JLaWN4SFBac0Y4VVNrMU85UEh6VGxFbVM5WUgrb25EbHgxZjExYVhSQnJTZi9JOGpWNW9QYlVraGx5SW9ITTFKUG0zZXB5ZStnVDVNYVFwekZBOXhYdUx0MGQwVnBTZXd0RGRzaDBRUjlYRjMybkZkSWZWYTl0T21oaDJ1M0QzZUhlZDJJeW9mRmFpd1JkYjA2SUVTbWRrUEFDVkNuTVNFZ3hGMVhoUXJ4UkVMRjZESkdjdnFMa2E0b1IyUWpSeEU0WGdqKzYvY2ZOTjZSeTJ5dk1sNEFBQUFBU1VWT1JLNUNZSUk9Igp9Cg=="/>
    </extobj>
    <extobj name="334E55B0-647D-440b-865C-3EC943EB4CBC-10">
      <extobjdata type="334E55B0-647D-440b-865C-3EC943EB4CBC" data="ewoJIkltZ1NldHRpbmdKc29uIiA6ICJ7XCJkcGlcIjpcIjYwMFwiLFwiZm9ybWF0XCI6XCJQTkdcIixcInRyYW5zcGFyZW50XCI6dHJ1ZSxcImF1dG9cIjpmYWxzZX0iLAoJIkxhdGV4IiA6ICJYRnNnZTNOZmUya25MSFFuZlN3Z1lWOTdhU2NzZENkOUxDQmxYakVzSUdWZU1uMEtJRnhkIiwKCSJMYXRleEltZ0Jhc2U2NCIgOiAiaVZCT1J3MEtHZ29BQUFBTlNVaEVVZ0FBQWprQUFBQmhCQU1BQUFER2g2M3RBQUFBTUZCTVZFWC8vLzhBQUFBQUFBQUFBQUFBQUFBQUFBQUFBQUFBQUFBQUFBQUFBQUFBQUFBQUFBQUFBQUFBQUFBQUFBQUFBQUF2M2FCN0FBQUFEM1JTVGxNQUVHYXJ1OTN2ellreVJGUWlkcGxDVVFOS0FBQUFDWEJJV1hNQUFBN0VBQUFPeEFHVkt3NGJBQUFNbmtsRVFWUjRBZTBjVzRoa1IvWGVlZmQwend0MlhRMllHUkg5a3UzNU1CRldZbzhHQlFuU2EyUjJNYmplRmR4SkZLRkhYR01NU3ZkUFZ2Um41c2Vnb25Uakkvb2gyd05SOGlOTWYyakV3RElURWhWUjZCVjhnR0o2M04zdTNZMHh4MU8zWHJmdXJlcnVXMzM3anQza2Z2U3RPblZlZGVyVXFWTjFhOFp4eHZrNTlhcE43NjQrRHVlL1lVTTRXalR6M244dEZING5rT2V4WlF2U1VTTEpGc0hDT3IrQ0N6OTk0U21BRzZQVTFiaTZ1aStjTG9HRmRUTHdjU0txQ2JBZVYrUUk0UmNBMmdVTDZ6eC95NTlTR1lDYkk5VGJ1S3JlZittQjNhcUZkY3JiVkZJZFlDMnV6TkhDdDdCT0ZsZzBuZ1Q0OTJqMU5xNjJGdGFaZXAwSnlZR0Y0OFZWOEZqeExheXpDbzh4bGN2UVBsYmxoeTdjd2pwVmdFT3Exdzd3U1RaMFBZOUhnSVYxTUJpenNKd0hhQnlQMmlsSnRiRE9BY0FHMVc0Zm9KYVNuc2NqeHNJNjB3QjdWRm4wbmQzalVUc2xxUmJXeVJVZlpzcGh0dHhJU2MvakVXTmhIYWxvRVRxeU1vNmxnYXdEd0ZPZmNUUU45bWtRNnl3QXZEYW1abUhkR3NRNk13RFgzN0NPeVFMNWNRODdnOHdzM0daOXptUzRNWUVQTUxObXh6M2JHU2dxdDhEcXdINlUzTXJlZHhhZ005NkpNZzZqdlhYeThORlJjZ01yWGEydE13RzNyQVNPRkpHMWRmSlFHYW1PV2lscmE1Mko4US9KYUU5YjYrVGJEYXZSR0MwaVMrc3N3UHY5ZnA0ZWJ4dFpXcWZKdnZONWIxZ25PaHNXZUVpR2FOczRRZXg4cDhudUYyUnVqNU10b24yeHNzNENQMnlmRytjUDZXZ3NLK3MwMmQ3Y3JWdGNiNG1PMFA4dnBHN3hzUmQzV0Z2a0FSajNwS2RwY2N0a0I4M0NIbmx5NnI3OWcvRG8xNGZvQnMrZXUzMW1pT3dKNjl4TGozYytXV05DM0pYZi9BUjcrZDd2cml3emlQbDE3VDJsUy8rZ3pYUGNOUGcrNGhTWklzQW13Q084bnZUYi9SMTBQSkprM2ROYlYxdlpiL1lBUEdqWEtIMWRkTE5YK0hEeEdseWI5NzBxeUFET2NrMTI0S0ZsSi9jT3Z0SnpjR0x2SnJ6ZWNIN1VYbDRjM21TK0YrQUREZWNhdis5WGg2MUxtMS9hUExmVksvYTRMYmoxTGlmWHBKZVo5Z1BXV1dmZFAwVXZ5em5OWG5hMk5OY0phTzhpYVhFN1A3U2pBWndTWHliYW5ZejdmWGNIYmhQZFhPOHVJZGM5NWR2TFBuaGlPSmN5NWt2MFlzUDBEVzlZMW5ITHpFY3kvQTZGcnA4YTJDbCtKYVZxU3Y0bTRWT01ybnlvWVRBd3FBNVU4ank2N1pDODh4bHhPNkFnbDVvK0ZNZUIrdzlGbXpSOU5xL3pHejFYWUtNUGpuRlI4UDRtTzRmMGhwVkVvTjFaSjUwbUwvU2xKZ2J2UFlxNHdBdGh1aktiVUZQaWFrOFlZNkI2RlhoeTNnd3Nrd094REJPamlBcUQ3Y2V4RGc3Y0hVYVhOVmdudzIvSW9TSFh3M0lUcUhzaUtjTk9iQ2ZBTU1JaVYySnpGMXVhcjBhYXpZRG5wVUppZnhYQ1h1U2hjbWNvZDNRWFFZUzFWVG5FSVIwR3ErSkhiN0hpRkk5aThDckpqM3BUaGdPTGFXNzRmZTVFQ3YvRlN6V2xIcTEweDBDUHJEQWFMTmFpNUk3VG5RR2g2STZCdzhxZFBpZEtPa0VoR0tZQllpTitJRW9xMGhLLzVUUzM5V2ZSa2luVDQwUEh5ZmU4MXR3ZG84VFpPdzcyUWdod25NUkU0RWR2c2VETXhzbDNEZ0xYVU1yQyt3SXFZaEd0RTQwR0I4S3FIaGpvQkpldUdIZ1JSbndjS25NdjlVa1RFNEdyQ1U5VzNHS2NPMGxGMmZNVHBnc3BPR3M3TDRxdXNnTG0xN1NFWVYwL2s1YzVpUkhEUjBEdVloV1JLd1JwU2t3RUJudWVSajBUSnlkQnhYa3VNMThTUThpN3hkNTQzd0RnaVpvS0xmSU5Dd2JWaXRwRWEwMHhTQ1lNaXBlWDFzV3NKTGlnSkNhaXdQK213ZjJ0V0tCMUtvZGhrOWh2T3NadjlmU2RSQXIwZmZJOHNSdWtybk5QdzdFWFhoSkFRTHR6c0FHRElYdlNlekVJSGdWWUpDWUNsZDkybkpYdm5NYU55bTVBUUs4aWhoU2NrZTVidnY5WGdBK2JrTjBTTVE1aTFnSVl1Vit3U2wwL0hPZ3dITnVBUVpzRDN1dWdrMkl2eEpPVUNMSkJZYzlIR29KN0g0VTZKNE5iZnpLamN5dytlUlhNQWx4VTZxd3l3K09TNHhnd0tDSnh6QWFqd2JHcXNLTHlNakRvVndRT0ZHeHVubi93bFQ4MkZMWTlLeTA4Mk5uY3ZQeStmM0ZQMEZMZ1ZvdytGVTJ6Q0Z4cTI0RUloSTRCZytLanY0aDd2emdLTlpVTHJSa1l4QkFoL0ZqSDNnZ3JxelBkaExmQXpCT01tUXgzUW5aT29jNkxkZDZFUWRGWEF3blhqcHlOUVY0bUJ2Mkt3TGpIRi9RZzI5NWw3SFZ3cGhzSnNoaVg4Tkg4UmRJc1g3dEN0SEkybURBb0FmcUwrT3Zjc3I0WEpnYjlpbGl5dlhpTlBiNGU2cGFoZXM4VllwNWFwUFZBSDNhY2tzallUUmlVVlY1dWdWdzEzUkdpVEF6NkZiRWFHQURCdEk4QzZrT1BTL3ZBZFg2SXlOY2ppT3k4TlF6SDVIMk53UXdZb2xXczRxRjBSN0EwTU9oYnhJRWNBTUd6bndMWmdQU2ZBRFJCazJoNm10bUdvaWZrU21UQVlQcTE1TndPcFR1aUF3WUdmWXRBNnh3SlpqRUt4RG85MGIvTk1UQjFaRUZxL2tPUEhsSm9SbTRET0pyL25oVEIyb1RCMEF2U0lWbTY4NE5sMHBTZ2lGVXd6SDZtZ3VtRk0wc3NweWFjUEh5R05XSGl0dUVYM2VMdGNydmhGeGZsVngyL1RuNUVBdUMzNlRBRUt0bE04YTJNZzcyNGppM2xYZnhKVXNSUzROTlRRSEx2b25ZWlVzZ3dXeFBMSVUvV1R0N0V0SmE2MFl3bVVMT2RCL3JsV1dTbHd3aEkySkVCYXQ4L3czVjliMDVTeExUdytZRGNmb3FlN0xvQkhTZXRtSHg4elNwV25FVTJvL2FGNlFMMDdzcEtFKzZ1MEcrd1dneUozT1JNZlRmQ1NaWDFOOE5KaXNCY21Rd1RmMzVkNDZWZTc1YVN3dVNlak9MbnBYdmwyRFNjd0VBOEJYZDgzS0ltUVNRTk1oY0pZY3ovNVl3aXBDclhoWkt2ekNUWnJ5UXFBc1Aza1pUcGVvZXlvcGF1UGxoVEFOajNRUDBrVVN6MHRPVFpTSlp0RHFaZkkvT0ZIbEJvVmpHZmdjeEZRaGc3ZkhveU9Vdmlrd2dPTVRtY25FSHVUcUlpTUxvRy9pbkRTZjBpaTBKeHphUkR6bFFqZ1JDZG1UMnVGM1JBQml6SVNUdkxUc2Z6RzQ1endETGN2KzF5YXVXTml5RWZJUldEN0pmRllSY2h3WVZ3alpMaVNKSFJxVi9FbjBSRllPU1hIdTZXalg4NVZFZmQ5cWd1OUJmSHF5YnFwem9OVVJhRkhiakF5L3VNMWtNV08wQ0cyUGlnTSs5cUc4bUJraEtxY0NGYzl6R3oyRUwyRklVSy9pUXFBb2RTbnBoL1U5ZEpYd0dNQnRJVGZBaU9NZFVOYXhsUFo5V3FzRUtPVFNhWEpBR2wwSVNoL01XdlRIY0VpQlp3L1pCNW9nOHFzNkJRdjlFaVh1V1M4NHlFUmVBaXVzejBtSURQczFMMDVhRnFvcmQrYzFOT3lUeTdTcUNTVFFubzAyd2ZrVU5ud2dteXArS3B0Y0RSaTlxQUIrQnkwdmxOQjNTbVRjQmhsZmpPSEZteUVoYmhsTGtQekpkcHVGU1ZZclVpcWtibXRueG1oZFA5bUhWZXR2a2wxM3VFUXU0TmhpeWNJQ0U4dFJvNGVsRWJjTXJSbkUrQXM5QWhBMXU0Z2VzZ1RnRGhxd21LY0U0eDNiTkYveWFNa0swV01QQ3g2Y0hoYnBrZHgvMk1YZEhoRGVKOUFyNjZpNzcrTEwzR3dzQ3J3cWdDVHluSW94Y0ZqQlVjb05LNkF0ekhLMlc1SyswYVhwR0JXcloweUJxVEZJRlNuOFRROFZLcHZhYUlWaXZvMXgwWm9QeTJLU0RIeGQrN0h4NVdVV1h0T1lCTDUvQ2owNTRFNFJjK3VRb0V3S0xZQ21ZWUFrb0tDK1VMcTlzS0pGY21GOCtJVVU1QXB5UmNPMGtSVHRhRER2YmhaazJSSEs3OHZ2MmlzbUpnKzgreDh5V0FNMkZVV2I5Mlg2bHorWit5anFVeVhGVHE0WXJYTFdndnFkWnhNbjh2ZmZwdFBvZXI1WS90Y2xhSmluQXlYL1BhWC9nRDUyMStoNjNqZk91TGNQNEJvWlNaTU5DQ1MxMGxVSTBVTWY4aXZtQjRWamNNRFVGd0NpS0M0bGpaTlgzVDArQWFRWmhWTm95TjJJQzVTeGR6VjY5M28yVnRLWWpRYUpIcHNxUnAwUFVnNDRMTjBESEoxQlA2MFAwdWZpWElVaEFoWk1sQ1ZvUTlDWXRkcXBNY0pmc0pJOTAwL1pnMXRhYkZhTlcwWUJXWWdnaFZvRjliN0w3WWFDZzBvQUlKeW1TbmFIaVdhRmExVTlHMmw3VFFFREFGRVNHSnBEcHpwQUhHQkdIUXZZNTUyOWt3V2ZZVkZtMnEvc2NzZjFNUXhzRzBJN0l1UkhGd1F6RjBFUnFwVG5WYkI0MEhvMEczc0JhbUt2QXNLTytuTzR0M3dnaCtmWkhzTlhzOUtZalFxZEJhMDBIandlYklNWmkvVTFUb2NMdk5UcWxiZmpwVWp6aVhqLzZtSTRWS1gwbEJoRWF3MjllazF4QUdRUXZrRUdJcTRnTGtQSG5QeDJ1U1UrY2MxSUpFb3R5cWlLSzVrSUlJalhDRHQyc3d1NEF5WkVscW9nSFVoNXpRclB1Z0tqbklmVHBpUHI4dDUyODZWY3BvTFFVUlVhSE9BYi9UcjJuckgxVHNPSXZ0NVFpK3gwK1A1akFxTHhqUzVWbTkwY0xNVWhBUkZva2JwTFVvTEQ3a0pGelduU0w5Y3VzcDlCbnlGT0RkcGMvU1l2aTN0UkdHYU9zcGlJaklYVXhpSDRGY1g5NTZLTUtiQUthM0tUaHpYMXVQNEV6ME5iR1FTd29pcUs3eU41L0l4Skw4d3FXWmpUQWtYSy9mRFVOaTFvY25ZcjdiNWpDbWxscjBnNG9XSEFBKzF3aFViSXJERTVIOWlvMCtNV2p5dFJqSWRxZ3BpTEJUckRkVnNUZktvQmdwaUJoVVJRUDl2SDd2WU1DMkFxY2d3a3F2UG9obUExOWsrMEMzUVVsQmhJMWEvZEMwRHZ2QkdnZ25CUkVENldjbVhrZ29tekpMY0ZJUTBVWDZRRTJHVGZsQVBFUEVLWWdJU1V5cytuSjA2NVVZYjhZb0JSRXhWUDRmakFUK0RKMllBYjRBQUFBQVNVVk9SSzVDWUlJPSIKfQo="/>
    </extobj>
    <extobj name="334E55B0-647D-440b-865C-3EC943EB4CBC-11">
      <extobjdata type="334E55B0-647D-440b-865C-3EC943EB4CBC" data="ewoJIkltZ1NldHRpbmdKc29uIiA6ICJ7XCJkcGlcIjpcIjYwMFwiLFwiZm9ybWF0XCI6XCJQTkdcIixcInRyYW5zcGFyZW50XCI6dHJ1ZSxcImF1dG9cIjp0cnVlfSIsCgkiTGF0ZXgiIDogIlhGc2dYR1p2Y21Gc2JDQW9hVjU3SjMwc2RGNTdKMzBwSUZ4cGJpQk9YM3RwTEhSOUxDQnBYbnNuZlNCY2JtVnhJR2tLSUZ4ZCIsCgkiTGF0ZXhJbWdCYXNlNjQiIDogImlWQk9SdzBLR2dvQUFBQU5TVWhFVWdBQUF0Z0FBQUJxQ0FNQUFBQ3hrTlpnQUFBQVBGQk1WRVgvLy84QUFBQUFBQUFBQUFBQUFBQUFBQUFBQUFBQUFBQUFBQUFBQUFBQUFBQUFBQUFBQUFBQUFBQUFBQUFBQUFBQUFBQUFBQUFBQUFBQUFBQW8xeEJXQUFBQUUzUlNUbE1BVk8rN21YWXl6YXRtSWhDSjNVVEQ5ZWZiMHp0MVVBQUFBQWx3U0ZsekFBQU94QUFBRHNRQmxTc09Hd0FBRmU1SlJFRlVlQUh0WGRtQzR5Q3V6VlpKcWxMTzNEdjUvMzhkSFdGc0ZvbkZoaXpWOWtNWHhpQ0VKS1NEc05PNzNVdXUwMkc0OXh1NEwvVitmSDhrNVUzWWp0cStIM1RkbklxbXhiN1VtN0w2K2NRMlliczZIR0RZWjdlbVpia3Y5WmFjL2dGYW03QWRKWjVoMXcrbm9tbXhML1dtckg0K3NVM1lyZzVQc090ZnQ2Wmx1Uy8xbHB6K0FWcWJzRjBsSG1EWTNTQjJYK3J1UExieWJoTzJZd1Qzcmc2N0wzVm5HbHR4dDl1RTdWckJsUXo3NEZZMExmZWwzcFRWenllMkNkdlZJUnoybDF2UnROeVhlbE5XUDUvWUpteEhoOGg4OW5QWWZhazcwOWlLdTkwbWJOY0tMbVRZMzI1RjAzSmY2azFaL1h4aW03QWRIZjUwZGRoOXFUdlQySXE3M1NaczF3cSt1anJzdnRUZGVXemwzU1pzMXdqb0RIWnc3OXVXKzFKdnkrdkhVOXVFN2FnUVo3Qjc1NzV0c1MvMXRyeCtQTFZOMks0SzZReTJvOFB1UzkyZHgxYmViY0oyallET1lEdStpZDJYdWp1UHJZemo5STZxL0RBQjd4K1BTeitXKzFMdngvZEhVdDZFN2FydDJIV1Y5Nlh1em1Ncjd6Wmh1MGJ3ZUJ6ZDI4Ymx2dFFiTS92cDVQNE5ZZThMdjJFOEhicDlPRU9Hb2xQL09mUTc3UHgwQzEzSXZ5N3NoUVRmc2R2cGNmaDVSNzVtbm9hdW9XSWVaeXY5SlFuUTI0czlIWEVMVWQyR3g2WGJ0dzB0R054bytCTFluMTd2S2o5aUcvRnplQXliWmZ2Rzg4WjM5QW5EdXQzWS9sRGMvNlM4UlUzdmVIMENnS1dEc3MyeTM5aVVmZGJvdUw3WU1QMmU0eDFsMlF0UHVIR0NLcEVnSE5MdHcxeHB2TVYxYjVaNHZaRG81MHZlZkJPQWVod093M0RCTlF3SDZ0THgzSGF4Wk50M0pGMnRQUDBoR0ZGNFlrSUdMSDBmOEx0MmFiV1hpa2FSV0wxcXo1NWVEei9oWHFMQjhqZUZiaXNxUDUzVFZ3eElDN3JRTERYdThCRkVFVXEvVWNOVFRBV2lUMEhYNzh2ajhqWUhyeVN1ZnQra3hiSkoxM3o5bms3WEk3RTBYcEtVYmw4bnB3VXArM3FTbXFVSGF2WDBpYXBjNGJBdGw3RFhJaVNCRlJDblBtNFVIRk1BRzE5N0ZxNmNWdkpQME1HYjhmRWNFaDJlOEFndk5mT2xRc29mSThUSDZiV3NQMU9WdE54VmNhUjFNbk5KSlRFS2h2MXBpeWkwbzlwVXlNQnFvT3R0M0NSWmtUQ0pjS3BQdmVlZm5HRXA2WUdUOE9LajY4bFd3WXlmcVVyWmlSWXd5VjloamdZSExGSGdDdURzWXZzRUI3bytkanQ4RkVkWHlxZVhzQ3UzdVYwZjhwWkxiczYxRkdDSzRsT0NST05IdytNMHdoRUI2STFqSVRLbnhOeVlKWkZjVjFVR0k1S1dGanBzbDB1aW9vdDBHcEUyWGpHV1ZuRDMxR2tIcTZhcmoxTFlIdWF4aWtyTGZVRVIrZnBHSk1JOTdCYVgycHVjVCt4VTFOWjlIaGdXTzZuU1ozbUZrbHd1WWJJK1llbU9yQ2pPS0FEUXBIYU9lQU9Ncmo0KzBwaERjbmhoSWpTUEZIWVNldlN0b2xuY3pBK0ZKUUliYWJxUGI2aVlXMDlWQm13c2Q5aWV3UUZrWkZQWlNFNUYrM0ZVcHAwOUhmZjFzbXN6aDJyRWpPV1FuVzBnNko2M0o0QisrQmE2MU1tYzNtQXg5bFNsTDJCc3B3dkFzZDlwdlBPNEpGeVNSVFMweFltVDJGakVPWTk1ditkYWlBd1dWTUlVTXV0S29rSXVPNTZKMVBBNWRRU3hkenRBT2x5YU9vZlhJeEdTUmo5VitxSW1aeGlEQTc5SjRzN2hFcEFtWjMzVUpBSVVlWWVkR0gvMUkzUEFVZTk4NFE5ZURsaW4yUU5pMDQxSlVtbjZwRWFheVUrRS9rNEJDbW9FdkloU0ptK0JBQjROQm9mOU9vRmovdmtGR2VzYjN2RjlYRFpEN1BGWFM5WHBVS040SG4rMlpwM0Q5c1JDL2lLem9TSWJqbHJBUWxSVTZOSHZjc09ibVNYand6dldPM3B2RHZmZjQ0RGRnM3NkRm9WUGh0aEVtek04UWxUa1lVOTVxT2l4OTlFM0RSMDIvOHB4NUk5ZDZjQ0dJNThPRGlKNDR2YnFXMmFqU205ZFpRYVF1STlXcWR4VXFyMTk4NUxpNGYxL29zMjExRDJvWTRoTmRZQ0RkTW1oNUQwZ2RzQjVyOXVHRG51SGRGUFNSR0hERVFxSGswa3VoMTVUWjdwTElUWjFoZ1V0WmR3ZWI0TkdjQjBpQ2VVRlFCNWpEQjRqTVNtVVVLUFhJYjc4SE5xMlFJSm9xWEppVG9pYTdDdkdwcFEzaVFJdExHdUY0NHVacUt0WkNyRnBGSGpjNURwV09iblo4Ky9EOWZUN3ZYZXYrM21CWGU5R2lFMERqcFFsaWY1TEVCdllZRWtZVmxTR1ZIWWlrSXFQb1lsbDVxRXdVVmU5R0dLYnNMOEVuRnU4Y1B4dTVsSitwMTBLWkl4TDhNMy9Fc1NHdzE3aUlUVGprVnp5M0ZaMDZOQkNZakhNdmZ1VWVPKzJiRzJ6RFFrR2xHUFVPTldtbitKZFp2YzBJbmRoU3Y4UXhHN3NzSTBUMC9VcVFYQnN3VjZZaEZvQnNVMEtvanFWZmVQM2EwNHQzUWtPWmlaUVRZQ0RyMmdBYXZSQ0I2SmJSWThuclIwMmI2aCs3OG9sSm1EQWdnUUllMHhYb0xrQ1lwdmprT3haYXpBb1hqeC9IQnBiR0htSDJZNDVCZ21IUi84UXhJYkRiZ3h2eDZNdjlobkNQN0VKdzMrbGVOZ2ZENC9EdGJFaHpNYTJBbUtQdWJXWlZsRUpPYURqYklWRmZiS05ab2hOVGMxYW5VRDMxUG5sTDRwMFZ1VTBVYk9EWGlwamhVdEdGb0pGajFWUkVwdHpabE1ZZFhnenhUUFovUUcyRUNWVG9xWTFGZGZScTRXTVZyNkV6emltRG1SakliV2RDK2J0UU96NWhaSFFHUXhKQjFJanZrVnRPNmxTNG1XRnc5YTVISSsrUXBNWjd5TTJlQ0dvdGtGUHNjZkNxWU93R1lxSUZWY28zRldEVU5DSjEycUNEZXdiYThGTGdweDk1RUJzcWhxalpqRE9peUYyTDFWYUViaC9JZVZsRGp2QnBaajU0RkhKNUdOZkJZaXQ3aDNKSXhwbmprYXE5YnRUS2l4LzAvZXZmUEZHN2pIZW5INzEwQ0VUcm8wbG5YTDJwQTVYajJaREhKNVB2QlppZDFPbG9CaGtxMUxvVnVneVZxVzRCRlhSUGlEdU1EcWFRdzQxRjN5d2xHQkFnUVBTdWF0NXNncGlHOStZUEpFS2VNRTZhcGE3bm1sN0VKdXF6WElObFB0YWlOMWZsYk00S0dJdE9iMGxBa2t1eVZaRUc2VGhCQXNHMkJXYjB6Q25DWDlRby9TUjVqeXJ1aElJVDZQVWRVVnJ6a2lYZDBNbXJncTVGSkwySURiMUVWOFllU25FZm9JcUoxbkJ0VlluWWJsM21rdG96dzJNZGtDcUZ1SUQxV3FHUlM1K3BJUE53SFJqNmJYNGl5aWlCSmdpOHB5QUtIZkJ0SXJqdEZEUlFPbEcwWElaOThidUlub3B4RzZzeXR0WlNTaHo5WDhlai84VG51ZlZsT09TVEVWWU1QQWlNVzArdkJOYVE1SEhhU0VRaHFRcnJkeEZUMWRsc1dsRUxHSUJYeW04b0hVTXhwVEdGZFVrbmtDeXZIUHhJeVFOWGtHeWNkTzJxdVNqQUVpKzdsTE1iSjVxamt1S3p3TG1JTnduUUE0MldkZXh6TVBRK3JIcTRtMStEWmFkcWFSTEt5SDJqajIrekw0d01MQ2ZVTDI2NmpjaXkvNkMxTzVzdUY4SnNSdXIwdmk1T3F1bTFvTDVlYUxQY2dsdE94STFuWlU5SmFOQjJZczVyK3p3SEhKOGVVd1czakRoRllsRU5pQUJZTW5EMDJoWnJ5SDNUTmRlNG13VHIxZ3ZDL1ZLaU4xYWxkb3hCS3RUK3lmNzB6RjVMaW1IRVJrTGdxT2dIbzZaMFNyZ2h0TU8xUVI4bXlBUmlDeXVZb2U3aWpDa0dPY3daWWEwellmY3VxSTJndGpDSjJJdmhkaFBVT1VrTGxyU0M4Tmlua3NnMTJtZ3NVRGJtY2pZNlJHbkZTemk4UHFRMGRsNzQzN3NYY08vYXlHMitkYWdkRDhvUTdUMTA0a2hOdEZFZ3BTdUtVSWtJRFlkdGpVLzQvZG05UXhWMmdIaHE0cXhvZTNFZnd1NFJCSWpJQTVZSkRsbVJzOVNEb1hlZUxBTHdlUkU3SjNIek1xYnRSQzd6ckJwbDFIcTNLdm1GVU5zNm03VzdPeThkSWpOY0tvTFkzWVd6MUNsSFd1NXd5N2hrcWdIYmt4T1lvK252NkpoMzQvV2tSc2RTY3ZDem1icFg4NktyVm94dEY2bG5iTElFRFdkSEtqWVlHR2xBTEhuRjBic1daa09zVGxvbG01Z1JGWGwrSDZHS2tjZWxqdnNYUW1YUUpQV0xIbEVPRjFScWV3ek05TGlxQ3JrV1hMeXpENkhGTlprc1drQUxJMVNTRWROMVRkNm5ieHI5UXFPd2lOUG5PMTFjakFKaU0wcUNBS3NJanB5TWF2Y2dBRklQVlJwR2FiSnJDZWZNRGpvMEk2RnYwaCtpT2JMaDc5dXk3aHNVbGZpc29nYlY5V3NoOWcxaG0wUUZRa2lkMVVlQjRzUWUyY3lrVFNVY1RBSmlBMlVXR2F1N0FoRU5SYUt2WjhxUndZd0Z4dWpDbm1LbTZXNEpIZmgrVEZhQTNLd0t6QnNjOWpnQllDWW1VVTE3S3ZXTFhCZTNHV0RGeHQyNVNHT0NMR0pKUmF0dFZrZFl1OTJQL3RDNFhJUUtKdXMzS3FmS3NmeGFNN3I5QWs2S1M2eHRwM3NORzdsaFZSZzJBeUVBOGd1eTYyMmRqM0U3dUd4YTM4d1I0VFlKQXJnUVZ6c1luV0lYU0UweUV2MlQ0VkUrcW5TTU5ERVliTk93ejNpTkVIeVpNNUdPM1RnVXpQelM2Zko2QVptWlJRNVUxbFdNaUZIWG5DbEZLR3FVaDlCVGRjTkpqT2xDb2ZOeU94dEVoQmJKaXJWc3J6V1FNSitxaHpaYmVLdzAxd0N2czcyU2lKV1VKeWU3ck9pNVJaVFN0dld0dmhyM29HYnVWeENzOGF3cWEyMzhWZ3lYdHlIOUtBZ0NSTlNlZDBsSUhaTVVhdGhlVlZ2YlIxcS9WUnBCb0ZKcm5jZGFTNEJLS2VkTm9LaUlwQzhZVk5mei9zN2dscFo1TEZMM2EweUZwZ3JoVWtFNlZjRmNwa0ZEV0xQR1QvQ2hDbUlMWk1WYWlFdmIrY2t0RWxXUVZodUlFODJYdkNRSEhhcExoTFVNMXk2ZVJlM0hGRGsvWWppY2JpcGNhc09YZzhJckxqbFVLMUVrbEt5a0VLcHRaSUhYV1VYTWs4YXhLYld4dmVBdjJZUTI4R1hNanVKMm82cTVGSGhQOWNiU281THgwdkRlMnZRak1ObGlodmVYWGF3QjBvR3dDaFhoaTdPZEpRcUd3TXFnU3RoRHJsSFRtUU1teHEwU0ZDbEhjU2VvbkE0VnNGOVExV0s3MlAvLytQeFgrYzhJQ3ltM0tmRGZaWkwwdUxvRFgyODdkQ2dJdXcvWlZ6RytqcEFVL3VaU2VGMGZhNm5PMmF2bUR0L1J6MFJXVldnaEpNK0JVNUdFckluS2E4YWhEdXpLOVBIeWc3UVRwVzkzc2ZHRlBKY3pwa1FFcThhclRubm4zQUQ1Z3pGaXZOK1hiZlY4NFRQZ2RxTEJWL1Z1SVI5WW9KOWIwQk9rRGFjQUJQL1NzRWJFMVlmQncxaTM0K0h3MFVMcGo3djlkOTNodjNicWRKR0lqakZpa3MxUXBmVFBKZFQ3bm9xdVAxdG1XTjV3dVd4ejVrMmVFUExVTTRRMjRVUjU1U05XSWI5dnh4d1VrakthdzVKbEpxUjF6RnhjMHp1eGlhMVN5SyswZDduUXBGM3NINURIdWJPZ3Bvb29UQXBSTzRoMXpaVVpaLzNzWm50QWk2dG95YlA2UGxGZjlxUWsrNG8yYUZQeHJEQTh2ekIzRHNUYzF4dk8zOFo1TFpMbG5sOXArM0M3WThnVWQ3YTdhbVdFeENiK3ZEZUhDSVdGdDl0NERWQmxwMU9KUmdmQmlMVHRjU3dPNnFTaFdQTlRaVlUwWU1TTGlFUUJGNzZvMXN1dnhhakM5WW94b2J2MzZSM0ttSjhic1RPMWpVenN2UnFvMlArWnBxNUVoWlRVVURNRVpxZWt5SlNUSnZWUzZOT0hlYkN1STR4aFV6eTk0YUw3ZnZNeFpsR1JhbWpLc0VGVUZlRG5Ya0psMk15QkNNbVpFL2hNT0hRT1FwT3BuQ1FISThpMi92cG1QN0JQNTZDRzBxdXFmV25qQUx1YTl3WGtrQnVrRkRJbGxmcldXeERBd3pTSmJpTzc1Rnh0SkNBU3NnRG9vMHJMdTk1VnRybVBjaDVWZGVvMGh0SnV5RkxtZXhFYTFOUVgyUndKREpTZWliVXNTT3dMamtjMlljTGQxMndZY2Z4UlphVXdsamxEc1FtMzZleEVWR2ZLaUNIUkRpYTJrMEZkQkJnd2ZTOHRqQmsxR25pa21TNXcraHVTcWVBZG82NFBFYk5HV2RLMm1PMndTN3FHbFY2STJrM2pSeDJtY0ZCcUdjMHRkT1J1R0pRbzhVUXMvMjE5blpKRXZLSTIzMXpJc1p5dnRMUnhXV0M4aDZsNUExdmZSTmp4SjE1dXUwc204ZzVVNGlIR3gybHNKYSt4eFhCcWt3cGFDVEs3WlNkYjRHMCtmL2RtbDFIaFNxbFNjVjF0T3hhT094Q2c2UFJUbGpNMWpKamZxaUducXNHeS83R3hyOTloY1BtVkI0UkZrS3daWUtiekpyNlRiVzFmY0svYktZSm5CVzJwM3NXWFRQTHB0V1pDUmhtNnhjek1vekFtcDF0d1JRNGM2ZzRvQUpwbXdPTEphcU1XUmRxTU11Q1NRZzkvYXBDZ3dPTUplUFdBcGloQ1VpZ3RXRERzU3ZScXNKblJiN2pwQTBSVHN5V05UNFpOcTJhQllLQnRxMnlaRWJpV3JhUWpKdU5lNGsxeU5mbGZxV09nMHE4dm0rV2J5QU1LMkZ4a0xFeUJiRUxwRzIrZTdBRDFhZ3l4ZFQwTEd0bFU4dDBvZERndUZrT1U4SmxxTVpCejZ6Vk83LzZrR1lPVHhsQW8vTmt1VkVmanEzV3dNaVBMdkdpMExhMktLTUJiUVd2cUV6dTJMWk4vYjE5d1NncEtxVTVCNDkybWpPNW44RkloZ05JQ1poS0xZQUNhWnZJUE1xcVNwVXp6M3FwbGNNdTVwS1hzbXExaGxFV3JlWXRZZlZtbWRNUGlpWVJqVDlyZG92UWVpSlFRK09qS3lQQmxDalhINFB1b08wQ2ZCcjBNeWNlVnlXdUI0M0YyNS9mSy8wL0Q5TjF1RnkvTkFteXE5Uk5IMEtRY29IaHNDbUliWDhETXlsdDNzNHZVV1hJaVhSUHNxajJMeElkOC9WTUFaZnNuR0ozNGRPRWFGV3p3dElnbloyUFZYWnRYZlloTlY4Nm9PQ0JiL3ZMby9KL01oZ253QkdwWXJuWmVadi9YdWx4M0Mvb3l6VFlIQ0czK2RKWE1PRndPM0QwbDRGS2lVMmtJSGFSdE0wdm5TeFJaY1IwVk5IT1laZHl5WEpUZmNuSUlMU2t5cFp0QUJaWSs1YkkxK1V4Zk4yc1M0NWtnUW9EVWVINUZ2NFhYaEJvREYvRnNZTEtFVVU4THIvNzgwKzllVE44T3d6RDVYSVpodUZBVTBqOGIwM25nMjcwYksrNlA1KzU1cXovZkJ1V0NxUzlXNnpLY0xEd0h1OUU2Vk1NVzJmdUM3a2tvN1ViQnBVZ3NFZ0Nybnl2K2MrVk1uWjN4MHNIdytML2NCSFlzaDZKR0VGWTB5WVN3Vlg3emFNcTJJSUh5SGttWkQ5VGdHL0phaklqN2QwcVZjNjhoQ1VzODV6M0RQc2s3b3U0L0JrS2dqeDhab25YU0RDalBMcmxsYUgwTEtubWVGVHZia2ZTTi9KeXl0VkhHTUtVdkEyMDhIeXE0cW5xRzNIVHJxKzBKMTdDQW5ocjVyQkQ0cXZ1c2VKVUxMS0s4cm5yaklGRVZrbjB0ci9DRTRaWDVlK0tySkFRSkYvazdEaS9tOXZ0OXBXMk9rMU1ZckY3VWFtMmVNRHVvQVdoaU1ZK2tlNkxHbGRYd0NoenlzNFR2ZjNjOSs1MVB6OVBTNGlWV1lDQktXUWd0cGxsWDJscmtueGZoMjFlWVZmekl0cUVTdXBQblNBT2o0MDR2bXpyV01MNk05bzRTZXg5T3JIdVEreWp2TEhvS20xVkh1L3JzTTNuT0YxTTVLQW51bFJCRlQrQUYzc2FHaTdtcXFZaDhsSGoxdEcrRXFWMHA0Wno4UHNWRG56UXI2dTBGY2J3djhncjdHZzlubGtQRzFrZjFDT096ejA5S2lSYUZNWWp0dDZsZ2lHZzJTU2N2WmR2OTZlVHJ3MU8yTnNxNmlibUlMcEtXNVVaVE9kNTJFMWxRM25ReVVoT2k1TnhDcDl1TlVLZzFiVmIvemxsWjBkNGRTWEZ4ejllTE9KMHQ1M1lTZkdRWGFWdEJ3Ly93bkp5SjRCaG4yZmVkN0VTU3R6M213TWsyaWVWMDQvbmdES0VicERJOUVvVVdwZzNmTHpzTnR5aXJiaDd6bjBtMlZYYTh6QkI2YjBkTmpGTHU1UG1acUs1bGtBMnkyN2ZlYzlTT0tQNTRQVG9PbXhVMCtYdTV1ZVcrR0RBYytiVFdGMmxQWTBTRkxDQmYyZUhiVjVUbGdVV1RLWDg5aWYzUm1jNXFiZ2xKQ3JuQnVLMjcxb0QxOHk3aEM5dkw4SUl4ZmN6YUdtK2dEc2ZsR2wzbGJZcVFVSk5OcEtvYlY3OGdHSktZeGFiZjZYaFNvaE9EYnZrY2R3eHVwZnBsUURJL0JTOFlHWU9qYnpwV2FoSXJsczVmK3dxYlUwU2NDOEtQMXFYNTllVE9GY2Q0NFVjTjMvcDF4MkFkbFBQT3g5MEIyNWF4dnVORjdMdWk1OVcrS0dmMGZrZC9HK1VzYUhFcTdMYXkxWmRwYTFPK2dNY3RrbG1OOHd5ZlBlMFBPd2NHd01uVlhsZEgzeVJEUjlkTkQyTk5uZ2VtN2FVZFBvL3lFMnBUMWRwVHp5RmhZOXcyUHd6ZmpYZkVvU3o5Ty9wVUszaEt2RnA4L3ZIYng4QlE1NHI3dzgxT2ZxKzBsWTUvd2lIVGR3VGdBdmNoRHFsN0lQOVJUeEV5UFlyYWtEN2dhYW9xV2pRNXpiNnFVbzJkSlcyT3ZIUDJjRFRGcVY1ems4VnkvSUh0QUJyM05ueWdWN1k4L3NEb0JadGRQeU53QXZsbFJtYUxQdTlzNUxnbjlKaG43RDhNcUxPUEQ1MlBOdktERjM4K0hZWlBtYWpRODd3M2JQRGxOUDk2emdFeHdydjcyQ0tGOEJiTkNSMzJISFQxMkNLbEJENTYvdEdrdExsalY4c2FxREVWNUQ0V2Z3RjRuTzR2VjA3N2txZk00WDhLS2QvWWZIbXhiQzErR01TK1ByN20rTS9wckZ0T2lVUzBON2ZLK203dGRrazhMWVMrRHI2Uit4dnkraFRHUHNmZER4dmNwWVRaek1BQUFBQVNVVk9SSzVDWUlJPSIKfQo="/>
    </extobj>
    <extobj name="334E55B0-647D-440b-865C-3EC943EB4CBC-12">
      <extobjdata type="334E55B0-647D-440b-865C-3EC943EB4CBC" data="ewoJIkltZ1NldHRpbmdKc29uIiA6ICJ7XCJkcGlcIjpcIjYwMFwiLFwiZm9ybWF0XCI6XCJQTkdcIixcInRyYW5zcGFyZW50XCI6dHJ1ZSxcImF1dG9cIjp0cnVlfSIsCgkiTGF0ZXgiIDogIlhGc2dXMmhmZTJrc2RIMHNJRzFmZTJrc2RIMWRDaUJjWFE9PSIsCgkiTGF0ZXhJbWdCYXNlNjQiIDogImlWQk9SdzBLR2dvQUFBQU5TVWhFVWdBQUFVc0FBQUJYQkFNQUFBQi8rbnI1QUFBQU1GQk1WRVgvLy84QUFBQUFBQUFBQUFBQUFBQUFBQUFBQUFBQUFBQUFBQUFBQUFBQUFBQUFBQUFBQUFBQUFBQUFBQUFBQUFBdjNhQjdBQUFBRDNSU1RsTUFFRVF5SW1aMmlhdTd6ZStaVk4xM3VHYVJBQUFBQ1hCSVdYTUFBQTdFQUFBT3hBR1ZLdzRiQUFBSVQwbEVRVlJvQmRWYnYyOGpSUlFlTzVkY2tzc1BCeW9Fa2lNa0NrVGhVSElVNnc1UmdDUCtBYnM3VWNVbEVoSTJvQ3V1d1Nub1RzZ3VFQVZYSkNEQkNTTGRXcUk2Q2JHdUVjSkdRb2pPZ2R6QlhSd3lmRE03Tzc5MkhjLzRnclJNNFgzelp2YWJiMmZldlBkbUxrZWVlcDRWa3RkU0ZQUUN5a28xcnpScmdsNGduam5sK2IraldjcnBSRXBhTmRoa1FEV2FUNzl3NDlhZE05bWVFOEdtdWN6dDlGRk8yRWthTnMxcm5PWkQyWjRUd2FaWnZQRk9TT21EbkxDVE5HeWFhTUNFSHNyMm5BalpOTnM1WVNkcFpOQXNVN29yMjNNaVpOQWNVcnFURTNhU1JnYk5pRkxabkJjaGcrYVlQczRMTzhralRiTkE2Vit5T1M5Q211WTZwU2Q1WVNkNXBHbXVVWG9zbS9NaXBHbHVVTHFmRjNhU1I1b20zR1pETnVkRlNOUE1vOXNrYVpwNWRKc1pOTWYwTkM5THJYaWtaaE51ODIvVm5CY3BSYk5JNlo5NUlhZDRwR2hlemFQYlROdm1LcVU5UXRidmorL2RWQjh6cDdSKys5dnYrS3VGbis3UTMwVjJ1UGhEZU85bXlSTXhOWnR3bTAzeVdranZVZnExSjFhcWV6UUphUnZhQXJ6SFdMamo1eWc5OTg4YVVqUXJsRzR2MHJzN1pEMGVJalcydTJMdGZPY3F6N2IySnBqVWw3aTRTTTllWnRDZWdTNUZzMFZwb2ZNVjR4STg2WllmZmtGSWlKQzJ6TVBhRlVyN2hFUTgrNnBSejV1QUZNMERlcnI2bUpzT3JMVEs2TTVkeGdOQ3VzaGp1cDl5aUE0T3JDdW5WU2F2K0VMYk5PRTJ6N3B0QmtVVytlZHpjYTZmOVhPOEZ0R0hxeUxMSG1JS3UvRmlJMW5zZTJIYU5PRTJKK0xPQStMSUM4dnF2TXJXdDBQUE9zSU9BM3ErSmhnditKNnhiWnB3bXdrNVlCMWJJM3RWYTMrZyt3R1ZzUmMrcEQ2S0VXQ25yTkc5MkRSaGtJbEZZamI5c0t4Ujk5Z3NodW9LcGFhZ01RTitGeXMyelUzbDAyQ2JUMFR6WUpjUVRKczg5RmNVTkd6VEQ5cW1DYXlSbUJXcy82RTFRVjVWdGlyZ0kvT3R1b0plOHJVbm0yWUwzbDJRd1IxaVQ0anNjVDEyVTVybVlyRTRRVHNPVnZMOEYxRTZFSzhBZXFTOVBSdmFwZ20zbWJ5UFExRTdrZm55YVRXbG55cGRaZmtnTUhwSmp6Rmx4SGt4ejF1d2pMWm9tUGF3YVdyWlpsbEU0ZmhWekF2YkVuWXAyUXBaTDM0TUVSaE5vV0VlT1duVTFGQTVRRnMwc2J0bHRsazM3cElRT0hhVFVkUnpUNDZzZExvMFZEWUU2SCtTSmswTmxRTzBSVlBQTmp2R1hWSlJ6VVV5R0NGd0xOT25rM1dEUFNhOUFTMTN0NlpHc3dPMFJUUE9ObVBra0tjMHlTamtqYW9VcFlEbGtuS21vQjJzQUQxSytuaERXelEzbFMxaHBtWmV3Vjh6dnlSaElaLzZ3UXJRZmRHQVBUUHptc3FFdG1oV2xDMWhrV1pHaXRxTTRlQTJwYWtEZWlCb0FscTZLZmxKbG1CQ1d6UmJhaFZ4QlQreVhrMVY2ek9HZzFFY0p5L3RLVHVHUC9LRXRtaHFiak13L0ZFeW1QbnN6SWhUdXR2c1VwYlk4UUxvWmlKUGU1clFGazNOYlVZeUI1bUd4QktMOXZSR3RKUTFQcHJieEpwVkwzd1BqU2EwU1ZOM202R0tSOU1nc1JWMnA3VngvVkNadXI0alF6V3gwMTYzb0UyYXNPM0Vsc0I0NW01RURsV2ROZzdYWTBXU2RtUWJ5WTRFWTE5b2s2Ym1ObUg5ekJ1dnY4L0hlZkhvczJRODdibXNvclNtMVVUTjFCRnFEa1VMb0Juam9nZTBTWE5UMlJJMitqNndOdmdVUEVNL3A3OXF3N05CUWlyS3lHelFhcGJiYklzbVFQY2dibkNuNUFadDBxd28zd2FSMlYzQXBxQXdicE1EbVRsQmdZSkZuRWxUTi9WQTJUR2dHMENvZVVDYk5Gdkt0M1ZpTWVvRGNBVTVXU1NkTXhTc0ZMYTI5dWpKMWxZcHJtYjl3dFJsR045VGRoekYwSzAyM25HRU5ta2VxQzFJNHpnWTdnQ3JQbUlIN2lZa3M1aStyWGovQTdPWjZHRzhxK3hZUlBUeE5ycTdRVnRYWGNxM3dTR3d0S3ZJWGZLNHl2eFlIM1d6bUw0TlMyRjl5YVlLNDRUU1IrSmxRTE5rZ1dmM3hBM2FwQWxiU2xKQ2lNZkFXbVdBaXpoZFczNk1qd2hkZ3d2OEIyL0l0NFcyb2t4ZGM1dm95RXpCQXhwMkRNOFhKRW1qWmt0SUdrYkFHaDdpWndQYzBWU0ZhQlM0elIybFlIOStZVzB6emRRMXR3bWFETFhpRG0zUjFHd0pXUHZBNHZaVEJxQ1pWOFhrVExlSitHMS9pbWJxbXR2RXhQWVk5QUEvYnRBV1RkT1cramlsY0h0NnM0RnZ0eGNVWTVqVVFjUXdBblJRcHM3KzVLRU5EUy9jcE9ON0dqZG9pMmFnYkltMDJHeTJma21nT3pLS0pocjJyaDd6WUFMYWptRzlNRzB5MjZ3cHQra1BiZEdzSzdlSm8rc0RjdjI4SkVnaG5yU0ZxQjVXdHRtbE5EUTY2ZGNtUXdQNmhMd3k4WUUydDFCRk9nMTQ3d1BjUThkUkY4UXc0cmJpSjZUSW5PR2xnOS9LUGIwVDdMdVoxQU9xenFEKzBDYk5wU01KaTZUajl1VERaQkE0Nm9tVXBURG11MHhXSVd6MjlCcDU5NjZzTGgzMXBjeWdWU1J3Z2pZY2tnS3lwVnJHQlRjTW9XSDFLKzliQ29lcUU3UWp6WlpNRnRYQWNLMDdxc2Fsb0c4cEhLcE8wSTQwdzlUNjhqc1ZtOFd3WVd0bTE1MmczV2hpTXd3SStibHFETG9SSnljcnUwb2JiU3ZaVVhLRGRxTVp4eHVXSm1obE0zYWJyYWJTaFVwMGxkeWczV2lXbVR0WmlBK3c2OThMaXd6NEliMmd4Zm9GSzZhN1VIV0RkcU01Wkl5VzQ3dWFUaEphNnR4dHJtbi9yTDAyOHpZblRkd04ybzFtaStVMExFM2dFVkM0MElncFNXWEV0SEY1OWppUjNKOXUwRzQwOTFoTzA5MWxnN016MElDejRNb3JlblNLbXJ6QjY4Y04ybzFtQUgrMEZCc2V2S1VJN3dITFNGL1Yxdm5LcE9URmtIZDJnM2FqdVlMMWpVUzJOSTdUUlpZcG4yQnVHNG9aejhkVjFVMXlnM2FqV1JpZmRrL0ZWTDErOU40b1p0Q2h0OEl2TlRMUnZsWnhGZDJnM1dpU3BkdmZET1RBRzcxWVhQam8vQk9wUkJZMXo1ckQyQjJnelF4SkcvTWk4VnIyckZWbVhxMWVCQnEzVFlHZWkyYXRtVG5lajlWTXRaZHlDdlJjTk92YlhrUDdkSjRHSGR2bVcxNy9YNmpyTTdCZjN5eG85ditGNmdqSkFWeWhmWGE5QUwyb2hjY0x1czNUbEFtTjB4Nm5GNGluSS9DcXZMNXlmTUc5V3liMG5EU2podnU0bmowem9ST2FmbGhMdUZINmo4cGxRdXNwMFNYVHZVem90MHVYVEU3QlhRajlMK2FYcW56ZGZObG5BQUFBQUVsRlRrU3VRbUNDIgp9Cg=="/>
    </extobj>
    <extobj name="334E55B0-647D-440b-865C-3EC943EB4CBC-13">
      <extobjdata type="334E55B0-647D-440b-865C-3EC943EB4CBC" data="ewoJIkltZ1NldHRpbmdKc29uIiA6ICJ7XCJkcGlcIjpcIjYwMFwiLFwiZm9ybWF0XCI6XCJQTkdcIixcInRyYW5zcGFyZW50XCI6dHJ1ZSxcImF1dG9cIjp0cnVlfSIsCgkiTGF0ZXgiIDogIlhGc2dYRzExWDN0cExIUjlJRnhkIiwKCSJMYXRleEltZ0Jhc2U2NCIgOiAiaVZCT1J3MEtHZ29BQUFBTlNVaEVVZ0FBQUhJQUFBQTlCQU1BQUFDRC9TRDNBQUFBTUZCTVZFWC8vLzhBQUFBQUFBQUFBQUFBQUFBQUFBQUFBQUFBQUFBQUFBQUFBQUFBQUFBQUFBQUFBQUFBQUFBQUFBQUFBQUF2M2FCN0FBQUFEM1JTVGxNQWllOTJtVElpelZRUXU5MnJaa1E3dXRRK0FBQUFDWEJJV1hNQUFBN0VBQUFPeEFHVkt3NGJBQUFEMDBsRVFWUklEWlZXdjNNU1FSVGVRQ0NCL0J4YkM1allXWGlwMDJEaGpDV1pOSmFoMDlFaU9pa2NLOUpiaEZKc1lLeXNKR1BoakJWVUZsckFmMEJxbTBSTWpBbkc1L2YyOXQwK0RwRExLMjdmdnZmdDNYNzdmdXdaRThxdE8wNjU2VEJQdEMxckhnOE9SRTB3Tm9naWVFQ25DVllJcEVSVWMvb2kzV2hsaTRieWttV2lJOUVUakFIOUVWU0s2TDdvczhjTTBiV2c5b2g2b3M4ZVY0aCtDYXBQVkJGOTlnaHVSVUYxYVNCcWdoSGNtZ0lMNkVyVUJDTzRiVHBZbHVobmdoVUNBYmR0cDRQeXVaZ3hQcnFxcWRtNDJpVVNJeWlmaW00TWR0RHhzd21hNHFZcEc0TjhiazdBUi92UTNCUmxMTWxQREc3cFRONm11U25LY0s5U0JCS3dNY2diK2FqbXBpZ3o5a25GcnhBTkZFVFYzQlJsY2NmSGxJKzQ0cVlweDFmSWZNOUhYSEhUR1N6SStOajNFVmZjZEFiSFY4aTg2NU5jY1FQbGppQ21qVUVFMGR4QXVUZHRoYk1ETGhCdyt5dm9CTlVKZU1YQlI4UEoxWm41WWwzZk4vWWRSQS9Mdm9DWFZNOEtLUy8vWnVoYmVrbWY5QnJrVkVCT2p0alI4R250S0tjdVljNjFPNlo2TWJveUxRdkQvbmpvejlOUjN1VTM1bjhZVS9ZTlBIeEZybDR2MFhtOVhyUFRNdEc2ZS9WQ1dKMkYrNWozc2J3VmVSd0Fnd3BuMjNkWWZMNElaL1VBajNiRm1HQkM3L1hoekdIdlRTQWhvTWxxbG10aEJZMU1oWTdkVm1EYmRDb3VFcmtQY01yOGtUbHUrRXM0M3prZk9nZkdHMzNQUXJrUm55V2t1MjhwcHpneEdrVmpWRDJ4Mjhwb09BbkhDTWtQNjNZbG40MTVoajJka0Eyc2RjcER2YTJCYjlJeEhLdnRWd2pEYzVNTmVNYlMxWDB3TkJsVm5UalBGcDFWekpzV2VrNGVWOU9POUI2Y1hjZmgvYUNxRStITVZHbndrWWJIU0p3dWJVU1J3R0hBRkpPeTMwY2JiU1c3MVI2ODJHWk01dUhnZzJBWGZHNkxDV0dXRUJwc2FkcEZzdWRPemkvRHBrYkNxUzhTalNyNFd6VXlJL3AyYnpBZ25LZVJmVlFKb28xNXUycTJ5SnVtZDJodDFmN3F2SzVvbTFuQ3FVRHlQVnVkbXlPK2FCSm1DeWUra3JYd1ZBcnJuQ2ZSeGhXQTFRWmZLcG53ZDJmeHdYYm8zYlhOTmtjVll3cVRqdDZpRGhtMGZHMzFyalM1dmoyVmVVN1hLbkZsVEpJQzF5b252cjIrM0g5SG1ZM201QWdQOVN1RW1aWVNjdGkwZW16aS9uTmdmZGFZNWR6Q0FVYS9RdGJsSDdzNDlIVFl3cmlHTzlhenk3Vzh3eFJRdkVWckduL2s0U2wvRHUxdDRnMUE1a0ErYmJzQ2VsYkhtc1lmdWZaRjY2SVcycDl1M01hM1dMcjBOYmpIeXBxL0pYZzZJdWwzZHc4aXcxTDRUWlA1Tm54dmpRaG5KZkwrVDBrMVk5N1MxSERHZ0h2ck1jUGgxQnFMQWZ2SE1jUDhzQmV6VEptMnB0aG5tbGZEOWpnVE53NVl1QnkzSmJPVU41UGh4bEJwVzg5ajVnUUdXeHdKY09PUXJWcmM5ZytVQXYzNG9HQlFOd0FBQUFCSlJVNUVya0pnZ2c9PSIKfQo="/>
    </extobj>
    <extobj name="334E55B0-647D-440b-865C-3EC943EB4CBC-14">
      <extobjdata type="334E55B0-647D-440b-865C-3EC943EB4CBC" data="ewoJIkltZ1NldHRpbmdKc29uIiA6ICJ7XCJkcGlcIjpcIjYwMFwiLFwiZm9ybWF0XCI6XCJQTkdcIixcInRyYW5zcGFyZW50XCI6dHJ1ZSxcImF1dG9cIjpmYWxzZX0iLAoJIkxhdGV4IiA6ICJYRnNnWEhOcFoyMWhYakpmZTJrc2RIMGdYRjA9IiwKCSJMYXRleEltZ0Jhc2U2NCIgOiAiaVZCT1J3MEtHZ29BQUFBTlNVaEVVZ0FBQUc0QUFBQnBCQU1BQUFBcGNBdHdBQUFBTUZCTVZFWC8vLzhBQUFBQUFBQUFBQUFBQUFBQUFBQUFBQUFBQUFBQUFBQUFBQUFBQUFBQUFBQUFBQUFBQUFBQUFBQUFBQUF2M2FCN0FBQUFEM1JTVGxNQUVHYVozZTlVUkxzeWlTTE5xM1l1MGRGcEFBQUFDWEJJV1hNQUFBN0VBQUFPeEFHVkt3NGJBQUFFeDBsRVFWUllDWjFZUFl3YlJSUWUzNjk5UDV1N1NDQTZXMEtwTnhKSWxHdVFBS0ZFT00wSkZBcTdvTCtUMGtTaXVBTUptaFI3QlhSSXZpSVNwVjFjSUozZHBFdXdDd3E2TXgzZDhuT0dKQnc4M3V6TTdMd2R2NTNidlNrODcrZDdNMjltM3J4NWF5Rjg3ZDRUdVAyZEQ4RHJib0JzZDNkNGJhSDBGRDc4N0llSEFIOFVJbGhGQXo2UThnUmd5dXFMaEkrZXB3NDJBUDR0Z3JEeXlWaUpEd0ZhTElBWHJvSGVqMjJBMzNrSUs2My9xY1diQVAreENGN1loTHRhTVlGekhzSksrd0F6cFJpQWNaa0ZPa0xjanJFU2hRQkRSK2xoUndCSFNyMFBjT0FCT3FvVmdKNFM0WHpIanRMRGJzYnZhRzFTeVU4N1pBeHp5MVNnQU14UlZqQVNJZ0Q0cDVLQkJxOEMzTHlLWFhpMTVXRjRmbktWNmJZcW5aNmRJWUsvTFZPZUNtQmVJVmpzdUNHOGJabnkxQkk4THc4bXlCQk9DRmVhWExyYXBvandmRmg2RGdJTTRQT1VlNzJpZGFJemJxZWFYV0EyQllnUEpjaEV2eWlOaXhKZ0N3bE1PdHFvOWtBaytoN1VEcXZrYTd6bjh6M1pBS29kNGdBTmRLdVNKemFNRWZhLzJVVzcxUFUzdXhiNEhtcjdsb1cyaTg3NCt3UUZhVUxCN0o2MWFZWnppSzh6aUNJY2RSRkwxeUlOWHhZQjgvTE5DV0xuNzBxTGk2Zlludlh5K2lMdUVScThKY1JhRFBDaUNNUElON3Y2YVYyQ1Nsa0JwN3VsaGtzcTVjb09tSGpIdC9JbTR4QXZ3dnBrckRYb2FKc0hNVkk4WUhPZDhTMG9YZUxVdXFUZ3E3Q2h5OVEzZ0w4WWoxaFJrNVp0RllyTmlENkw1ZWVyMGFvTjk2VnN3T0RXMjl1TU5hcGwyRlZsd2pyZEZpd2RQRmM3czVIRU5UREpGUmtNZ1R0VSs2MHFsYW5JMEhqcUI0WVdXSEpNTTBZSVhDNWxpVWFJQVpBa1BzcHF1UlNEUjN1VUF5dG1SM1lSTFdZVE9vZ1F1UGFXZ3RMZkpLMjZZbHJsZC9MM2I1MHJ6SERQNVlRZFVuVGpldkkxeC9kRE9wR2kwWGxKVEVoVVkzbzZVa3JQNzZyeUtTYVJqS0hLVE9DTU1WSU8wbklvb210MTRCa2JxbERjdC9QaDhrclVPR2NxTkpwMlgzRGJMM2RUZEZVczFPM1dSM2JxektzRkFwMXFTZUY2OWpHQ04yTW1KZjZHS09WVWJOQmtwYW5wL2IwZm1TRzJ6VFYvUlYrNVphZGdmQTJlbW5Sc3pOY3hzYXZXeHFEdnBnVm1Zd0lQakY3MnRjNVVURXcrMWdxOG50Wk9uTUxMb1hoMUF1OVRNMUhIdHl3eVh6cEdVOXZkVGVERjd1NU9LcmdCOHc3QUYwYXArckF0UkV5dXROSHE0MHZaZTAvbXozNHhDdDNMa3F6THZCYjYrQngweGk1aG1XdU9LaE1pZ2JJWjVWMTZCZk0yWG8rRitNSGpPM2F4bEcvZUVaaHRjRktuWmNmbnlBMTdPaFBpa0lrN2JpeGpZL296SnBucTIyY2dYSTh2d0hSQnJtL2ZncHdJY0FzT0NLdklpUEhCQVcyWkNLYnl6dVVaYU1TVVRlajdqQTdEMFFQbWJWcTc1UGprT0YzR0paMDh1V21NREJOQlQ0aFBoNFpQK3hVVkN2VldUcHBqVkdRNFh4elhWQllibk9TZ09hWXBINGVHK2dkbDdZMWpwZXVueWJPMkdMZldkRjlDdHRXWHg1bDVOOEwwK0paOTllbEE1bGNaM2ppcnFweVJpdEtrZTlpVzBvS1d5S290YmttdHpDczlTZUNmWW1ONUJ3OVNodi9wNHpFRUtqSGhxZWxRN2N1Njd4dnZIM0YxZENuUzd3V21INXdIMndZdU92Q0hUSzF6RVYvc3BHanhlTzloVzFGbjhIUDNJMFVXL1FaZmZ0ekxkQ3RqUlRaK092OHFFNVlnVm85S2dCakk2SVFSbGhDRnZxMzMyTWNlblVlMTdvc3NqOTFXNlhJOVAwZzB5L01sdVdBeGNaZXk5RjRBendpLzZuaXprUDhCdXFkNklRR0VReklBQUFBQVNVVk9SSzVDWUlJPSIKfQo="/>
    </extobj>
    <extobj name="334E55B0-647D-440b-865C-3EC943EB4CBC-15">
      <extobjdata type="334E55B0-647D-440b-865C-3EC943EB4CBC" data="ewoJIkltZ1NldHRpbmdKc29uIiA6ICJ7XCJkcGlcIjpcIjYwMFwiLFwiZm9ybWF0XCI6XCJQTkdcIixcInRyYW5zcGFyZW50XCI6dHJ1ZSxcImF1dG9cIjpmYWxzZX0iLAoJIkxhdGV4IiA6ICJYRnNnWVY5N2FTeDBmU0JjWFE9PSIsCgkiTGF0ZXhJbWdCYXNlNjQiIDogImlWQk9SdzBLR2dvQUFBQU5TVWhFVWdBQUFHc0FBQUE5QkFNQUFBQllSb3JWQUFBQU1GQk1WRVgvLy84QUFBQUFBQUFBQUFBQUFBQUFBQUFBQUFBQUFBQUFBQUFBQUFBQUFBQUFBQUFBQUFBQUFBQUFBQUFBQUFBdjNhQjdBQUFBRDNSU1RsTUFWS3ZkNzgxRUVIYTdtU0l5Wm9sQU16RUpBQUFBQ1hCSVdYTUFBQTdFQUFBT3hBR1ZLdzRiQUFBRHVrbEVRVlJJRFpWV08yOFRRUkJleHlaMi9FcEVDVVdvYUkxNEk0cExBVUpwT0hlSTZpeWdvckdsU0JncXU2Q2hjcEFpcFVKT1E0ZmsvQU5iTkpST1Iza3U2QjFpaDBmQURETzdzN2Q3OXRtK2JMRTdPL1BON3Q1OE0yTUx3ZVBpemRPcldvNjlwdC9DMklGOUlWN1ZZdnNnc0FWbmgrTDVxSmFGSCtkd2V3T2pIc0xiWlI5K3gzZGJkYUZNNk9URU9ZOWJGVTdsSGFzQThDdjJiWG1BT3dyc3dEbStyUTlRVVc0dGdPUFl0emx3d2xnOFFINWtITmNzd0NQR05RQUdjVndJVXpWWUZDdHgzVnlBUThZT0FTeXZ2SWRwTTI5a3dIRGxNUk1LMncyK09jSTNCZkJkcXdIK2FSSFhqam5QMHFhVjdKdWdJOTEyU3JaaFlzRlp6TUNCbEpCaUhmU2lPWUZNVlVaSW1KNzY4Sk5FVEJGb3N1NkNPWUUwdWN1c3Q1ZU9TZ2lNU0JESWRVT0ZqUXpKTHV6U0htOFlhMzBNMm5MOHRnYVlNSWRwMDRlRjFnSkFqeFI0UXhDdk1HMGh1TjZzOE50OGdMK3NTNGRwMDhqUW11SzN0VXpRcDJnTHdmV215Mi9ybUtCUDBhYVJvZFdIUDNKZmdvQlVwdTFaalF5cmV3K2JFaENlU3JBbEZYaGJreTBZMUFNVXZSNU82ZmFwTjlLRmdYc2FMNUJpT1VaQ0RBR09sRlpzQW15Z2c2eWRuUk5rdE13R1hscnNCZWlHY29YVmVIRk5pSVRzbE8yQnlKcktZRUM5L2hyZ1M3Mk8yejd6aDZKTHg0Z1ZhbmtGbE5aQ1ZZUktISm8yc1M1ZlJpcnNLZFNLVWhTcUpFNHBPQ04xYUdqYTBGOS9tNjk2YTNVTGdmNnVFSm9pMjYrcjJ5OFd6aFZwU09BSFU1cVZCamc1R0pzaFV5U3RQUGxCU25uY1VhdVREc1VnVFdXVXBxTGdFckc5aEthTjNpSmJTUUdhZmJxdFNJSE0zVVcrZzQrMkhNMVJDUmhqMkVWcGdxSERrUFJWOGxEUTdPYW5YSFcxMFc0VGJvdmN0MUZGcEIyb0pOeW1Rb2lHcVVQV0lDK0dMWkh6WUtReTdBMk1YV0pORGovVXhaUU9PV0lyTHZtUDd2Wlh1WDNwWGU5cHZjZEpxL2UwSmlNN3A0M0F6eGpZZXlrM05HMHpGcTNBNGtNbXBzWm1RTnVVSWRpbW90N0RUVElBelFwVm9qTnhQMnh3VkpQOEVOYmFPNWtQbE5IMlVBRXYycjh2dHBseWpDcTlmMDFxTDMxU1JzemZIa3FOcWNPVVVjNlkySWdvSGRFRzg2VkNLN0ZOUzJkQWMrUW9VaHVWR1MwcmVVdUNzckszcmxJeHp4a1orbDFkbzBLU2ZVUDljRXFsNk5xL2dWUHVlWXAvcXl5MTJKclVQNUE4ZFkyOEsxOCtoZGZiOWxoa1J6VzVTNEwrU1IvaUI3ZUNyTlZRZTkyQnAvQkVLWEo3ajI4b2FRVk85c1lWR3pZanYzdnczdWh1c2ZqWnViZGh0RXVsN2FXSUtFQnVmbDVFd2JXdXNDRG1HaE94cmgxSEtKZXJxb1BsbUFpRXB3aU1zQ3hTWlJjeVBOZXp0VHZYdE1Dd0tPVVh1R1gyWjR6L0FlUzJ6SHJBemV0NkFBQUFBRWxGVGtTdVFtQ0MiCn0K"/>
    </extobj>
    <extobj name="334E55B0-647D-440b-865C-3EC943EB4CBC-16">
      <extobjdata type="334E55B0-647D-440b-865C-3EC943EB4CBC" data="ewoJIkltZ1NldHRpbmdKc29uIiA6ICJ7XCJkcGlcIjpcIjYwMFwiLFwiZm9ybWF0XCI6XCJQTkdcIixcInRyYW5zcGFyZW50XCI6dHJ1ZSxcImF1dG9cIjpmYWxzZX0iLAoJIkxhdGV4IiA6ICJYRnNnUVY5N2FTeDBmU0JjWFE9PSIsCgkiTGF0ZXhJbWdCYXNlNjQiIDogImlWQk9SdzBLR2dvQUFBQU5TVWhFVWdBQUFINEFBQUJVQkFNQUFBQzJPcDdyQUFBQU1GQk1WRVgvLy84QUFBQUFBQUFBQUFBQUFBQUFBQUFBQUFBQUFBQUFBQUFBQUFBQUFBQUFBQUFBQUFBQUFBQUFBQUFBQUFBdjNhQjdBQUFBRDNSU1RsTUFNcG1KSWtTN1psVHZxOTBRZHMzMVNwRjBBQUFBQ1hCSVdYTUFBQTdFQUFBT3hBR1ZLdzRiQUFBRVJVbEVRVlJZQ1oxWHZXOFRNUlMvdEVuYUpwYzBZbU1ocUFNaktRc0xRekloSklaMFlrMUdrSkFTaVQ4ZzJSblNCYVJNbDRrQmhtUmdRU0F1RXhKU3BYWkNZa3JGQ0tJZmZCVDZRUi92MlQ2ZkhidXBMeDV5NzM3djkyeWY3ZmZ6aStmWjJwVjFHK3FNcGVHM005ZEd6TUlmRyt5TTllQ25NOWRHRE9ERUJydGlpd0JIcmx3YnJ3NXdhc05kc1JiQXNTdlh3c3NBTmd2dUN1VXBmdXpLTm5rVGlpK1p1Q1BpdzAyTTMzQmttN1FjZk1ENHR1bHdSQnAvRmpCKy9nUUtSM2grNExyamFBYXRBS1Vsakc4YURrZGcrOFNqQTdEclNEZG93ek12aGZHYmhzTU5TTUdPNTJQOGdSdmRZQlVwY3pEK3pQQzRBUjFTcmdEZ2x4dDltdVVIQTRSQ21GY0FGMWppWUFMUEtZRGxmelNqSVFCN2twMnM3WStJWHdYNGtTeE9zSmQ0M2sxZ1RnSDl5SFczQjNBKzEvZ1Z2bTNsT1FVMGpZZVBXaDNtRTBCMitEQitkYzc0bnJnMktiNUdFMG5ZZ2lZUElBWGVTQmlMOU1WbzBDTEdkNVBIMTZOYk40ZnhmQ1VUZGRMYUZIUkRRSzhkalMvdmFWbk91WURqRDVTQXRQNnFlRlJ6UlY3YXl4amZWRnc0SC9VMThvd2pneityVWpOSVFFZUtNMnU5VHlaNmpxWGh1QjgxakkvV2dyckoyTklSVlhhc2pPSGhJR283VUgzM2F1b2J0L0dqTkxCeDlGSTI3RWgrakVaU1hsYW1pcHl3R1RzRGdNUDR6VzdWZFkwcVJJZVAyUHNBZisxUk1kclJoOWlPRGg4eFdnNENPdFNXMkJ1cUMxNkJ5eXZJUUR0aUdYbjRhUHpxNVFLS1o3Sk5WTkh5bXVCMUxxOGc4Wkt2UmNING5HanIzVk1GOUVIL3UwS016SnhXSS9wNndWRldLc2dQc0Fldm95ait6T0QrOGpZU2p0enhXS1hVMFN2ZS9YRGc3V3NmNTNtVW43eEY4UTM5dmx0RnIrZ3dpL3RhMFJZWE8vYTN0aVp3dUxVbE9KNGZSQjN4VVNtK3hNME9lbHFXY2t6Yi90elVBSXFBaGpXcUI2N3p6cFJmYmZzNzBkY0tBZ2xvbTlsTEtDcFRXODF3eEhaa2I0WHA2NDRFZEoyNTg1Z0hXQS9XSkZjWXVQMGxpVlhrYWd1STVqOWc5dmFtNTAxbktqbVU3ZmMvSS9zeFk0dWYxRDRpWEFEdTR5d2JsbVNVZldadWgwZ0crTklWd2Y2VEd3RkR2cTdkNHREUVVzM0o3S2V0WWcwbnlocFZ2Nkp4UWNaeWNDQjg4VU5tZnhINmIvZSt2WW0zYUFsMTlPMTdoUHFpaU1LbDJvZ0RoVld4ek1rZ2NhQ29aWW9naGRZYndkcEQzYUlsK0UyNHNHNnRhdEZpdktGS2J0RjBlcHNHZFZyOERVSU00R1hXOWJ5bnRSaEJLOC9GUDl2V1VPc0xQMm1VUmtwYjVlSmZYVmV3Qzh4dHV2eFNwOHk3dkNhK3VzekUzemZ6d3V5a1I5UWMxNWRoVkpkMzJQWXZxSGVHR2NtUkt0MFRsRVk0Q3ltTEZYWjVORVlYQlNuNGhQNUx0ZHFFa081MXlmQVltTGFjUytiVmZzcTRmUVV1b0ZTWERKaXpUUFhGVlYwMHRhajRKWXRUcmJ6ajd5R0lQM2FMdUNnRnR5UG9oK2V0OHpHUHY5dS9JejU1Q0MrQ1ovRWdzNnpDbytkZDZjL3ZjalAxNnZTaEJCTVlLODBFWkF1MXZtNEJFMENkalFSa0M3Vmx3UkpBR1pjVE82Ty80dGtNcDRPcnN1TkF1cGhTa0NYMnhaeFpIcWVFbTlIQnAvRzA4ei9CQ3pSZmdPa05VUUFBQUFCSlJVNUVya0pnZ2c9PSIKfQo=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演示</Application>
  <PresentationFormat>On-screen Show (4:3)</PresentationFormat>
  <Paragraphs>61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PingFang SC</vt:lpstr>
      <vt:lpstr>华文宋体</vt:lpstr>
      <vt:lpstr>Times New Roman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张小河</cp:lastModifiedBy>
  <cp:revision>3</cp:revision>
  <dcterms:created xsi:type="dcterms:W3CDTF">2026-06-25T12:36:40Z</dcterms:created>
  <dcterms:modified xsi:type="dcterms:W3CDTF">2026-06-25T12:36:40Z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D27A0335C242C31B52113D6AC0C3F961_42</vt:lpwstr>
  </property>
</Properties>
</file>